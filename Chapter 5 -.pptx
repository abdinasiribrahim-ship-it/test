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72" r:id="rId2"/>
    <p:sldMasterId id="2147483697" r:id="rId3"/>
  </p:sldMasterIdLst>
  <p:notesMasterIdLst>
    <p:notesMasterId r:id="rId46"/>
  </p:notesMasterIdLst>
  <p:sldIdLst>
    <p:sldId id="294" r:id="rId4"/>
    <p:sldId id="408" r:id="rId5"/>
    <p:sldId id="454" r:id="rId6"/>
    <p:sldId id="414" r:id="rId7"/>
    <p:sldId id="310" r:id="rId8"/>
    <p:sldId id="449" r:id="rId9"/>
    <p:sldId id="436" r:id="rId10"/>
    <p:sldId id="450" r:id="rId11"/>
    <p:sldId id="380" r:id="rId12"/>
    <p:sldId id="381" r:id="rId13"/>
    <p:sldId id="382" r:id="rId14"/>
    <p:sldId id="451" r:id="rId15"/>
    <p:sldId id="455" r:id="rId16"/>
    <p:sldId id="452" r:id="rId17"/>
    <p:sldId id="458" r:id="rId18"/>
    <p:sldId id="453" r:id="rId19"/>
    <p:sldId id="459" r:id="rId20"/>
    <p:sldId id="460" r:id="rId21"/>
    <p:sldId id="457" r:id="rId22"/>
    <p:sldId id="461" r:id="rId23"/>
    <p:sldId id="473" r:id="rId24"/>
    <p:sldId id="393" r:id="rId25"/>
    <p:sldId id="474" r:id="rId26"/>
    <p:sldId id="396" r:id="rId27"/>
    <p:sldId id="476" r:id="rId28"/>
    <p:sldId id="475" r:id="rId29"/>
    <p:sldId id="397" r:id="rId30"/>
    <p:sldId id="398" r:id="rId31"/>
    <p:sldId id="399" r:id="rId32"/>
    <p:sldId id="400" r:id="rId33"/>
    <p:sldId id="477" r:id="rId34"/>
    <p:sldId id="401" r:id="rId35"/>
    <p:sldId id="402" r:id="rId36"/>
    <p:sldId id="403" r:id="rId37"/>
    <p:sldId id="478" r:id="rId38"/>
    <p:sldId id="479" r:id="rId39"/>
    <p:sldId id="404" r:id="rId40"/>
    <p:sldId id="405" r:id="rId41"/>
    <p:sldId id="406" r:id="rId42"/>
    <p:sldId id="407" r:id="rId43"/>
    <p:sldId id="462" r:id="rId44"/>
    <p:sldId id="324" r:id="rId45"/>
  </p:sldIdLst>
  <p:sldSz cx="9144000" cy="5143500" type="screen16x9"/>
  <p:notesSz cx="6858000" cy="9144000"/>
  <p:embeddedFontLst>
    <p:embeddedFont>
      <p:font typeface="Calisto MT" panose="02040603050505030304" pitchFamily="18" charset="0"/>
      <p:regular r:id="rId47"/>
      <p:bold r:id="rId48"/>
      <p:italic r:id="rId49"/>
      <p:boldItalic r:id="rId50"/>
    </p:embeddedFon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Georgia" panose="02040502050405020303" pitchFamily="18" charset="0"/>
      <p:regular r:id="rId55"/>
      <p:bold r:id="rId56"/>
      <p:italic r:id="rId57"/>
      <p:boldItalic r:id="rId58"/>
    </p:embeddedFont>
    <p:embeddedFont>
      <p:font typeface="Univers Condensed" panose="020B0506020202050204" pitchFamily="34" charset="0"/>
      <p:regular r:id="rId59"/>
      <p:bold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134861"/>
    <a:srgbClr val="2446BC"/>
    <a:srgbClr val="4B63A7"/>
    <a:srgbClr val="ECF4FF"/>
    <a:srgbClr val="EAF3FF"/>
    <a:srgbClr val="104862"/>
    <a:srgbClr val="F89A9A"/>
    <a:srgbClr val="114C66"/>
    <a:srgbClr val="51A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8443" autoAdjust="0"/>
  </p:normalViewPr>
  <p:slideViewPr>
    <p:cSldViewPr snapToGrid="0">
      <p:cViewPr>
        <p:scale>
          <a:sx n="90" d="100"/>
          <a:sy n="90" d="100"/>
        </p:scale>
        <p:origin x="624" y="19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8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267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Real-Life Example: Theme Context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theme setting is needed by the navbar, layout, buttons, cards, and settings page. Passing it through every component is bad design.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import {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createContext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useContext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useMemo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} from "react";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ThemeContext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createContext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(null);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export 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ThemeProvider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({ children })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[theme,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setTheme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("light");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value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useMemo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return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theme,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isDark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theme === "dark",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toggleTheme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setTheme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((current) =&gt; (current === "dark" ? "light" : "dark"));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},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}, [theme]);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ThemeContext.Provider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value={value}&gt;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{children}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&lt;/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ThemeContext.Provider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export 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useTheme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context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useContext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ThemeContext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if (!context)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throw new Error("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useTheme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must be used inside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ThemeProvider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}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context;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Now any component can use: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ThemeToggle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{ theme,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toggleTheme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}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useTheme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&lt;button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onClick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toggleTheme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Current theme: {theme}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&lt;/button&gt;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17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86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16C8F-638B-C1EA-4261-3121A9B4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5794F-A42C-18F8-1833-A5A8949B0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259C4-5A79-6533-E2C6-6C8AD3C0B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74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768F8-2764-1C81-1A32-7645906E7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6CA5D-347E-5044-E8F3-4144BEA3E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AF745-CCC8-1BD0-B84A-953232AE0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804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A18E-69E9-D796-48E9-496FDAFE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BDD01-CAD6-9E2E-FE82-E9C124108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033FE-9D6B-839A-6556-CD3D3F795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23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6C05B-E79F-4504-D7A7-2A0E00D8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6B37F-A523-7333-09AA-6D9A08F99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873C4-D350-F75F-6BC1-07DEA7EEE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746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910CA-A62A-4FE6-B778-EFEA95546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96457-77B3-2159-8AD3-CA1008FF0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66643-0D07-20FA-08B4-F97485200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87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5C0A-2CE1-4693-5FD1-EE693A02E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01B9B-13F1-4C2F-5E59-EA54FEF0A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A5BF1-C710-F775-5A74-F06DE836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606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F8315-285C-99EC-C412-306E4D99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39A0D-F7A4-DE7F-EC94-482C0D195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98768-F170-76C2-4B6E-811AA31F9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115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Real-Life Example: Shopping Cart Reducer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shopping cart has coordinated state transitions: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Add item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Remove item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Increase quantity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Decrease quantity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Clear cart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Apply coupon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is better handled with a reducer.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initialCartState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items: [],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coupon: null,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cartReducer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(state, action)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switch 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action.type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case "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add_item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":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existingItem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state.items.find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(item) =&gt; item.id === action.product.id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if 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existingItem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return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...state,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items: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state.items.map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((item) =&gt;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item.id === action.product.id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  ? { ...item, quantity: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item.quantity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+ 1 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  : item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),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};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}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return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...state,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items: [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...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state.items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{ ...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action.product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quantity: 1 },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],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};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case "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remove_item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":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return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...state,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items: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state.items.filter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((item) =&gt; item.id !==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action.productId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};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case "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increase_quantity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":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return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...state,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items: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state.items.map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((item) =&gt;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item.id ===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action.productId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? { ...item, quantity: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item.quantity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+ 1 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: item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),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};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case "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decrease_quantity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":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return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...state,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items: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state.items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.map((item) =&gt;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item.id ===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action.productId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  ? { ...item, quantity: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item.quantity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- 1 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  : item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)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.filter((item) =&gt;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item.quantity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&gt; 0),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};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case "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apply_coupon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":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return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...state,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coupon: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action.coupon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};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case "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clear_cart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":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return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initialCartState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default: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throw new Error(`Unknown cart action: ${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action.type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}`);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Cart component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import {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useMemo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useReducer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} from "react";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ShoppingCart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[cart, dispatch]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useReducer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cartReducer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initialCartState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subtotal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useMemo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return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cart.items.reduce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((total, item)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return total +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item.price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item.quantity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}, 0);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}, [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cart.items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discount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cart.coupon?.type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=== "percent"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? subtotal *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cart.coupon.value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: 0;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total = subtotal - discount;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&lt;section&gt;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&lt;h2&gt;Shopping Cart&lt;/h2&gt;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cart.items.map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((item) =&gt;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&lt;article key={item.id}&gt;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&lt;strong&gt;{item.name}&lt;/strong&gt;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&lt;span&gt;Qty: 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item.quantity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}&lt;/span&gt;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&lt;button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onClick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={() =&gt;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  dispatch({ type: "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decrease_quantity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productId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item.id })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-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&lt;/button&gt;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&lt;button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onClick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={() =&gt;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  dispatch({ type: "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increase_quantity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productId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item.id })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+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&lt;/button&gt;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&lt;/article&gt;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))}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&lt;p&gt;Subtotal: ${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subtotal.toFixed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(2)}&lt;/p&gt;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&lt;p&gt;Total: ${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total.toFixed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(2)}&lt;/p&gt;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&lt;button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onClick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={() =&gt; dispatch({ type: "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clear_cart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})}&gt;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Clear cart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&lt;/button&gt;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&lt;/section&gt;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477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Real-Life Example: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Memoized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Child Component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import { memo,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useCallback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} from "react";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ProductCard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memo(function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ProductCard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({ product,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onAddToCart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})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console.log("Rendering product:", product.name);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&lt;article&gt;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&lt;h3&gt;{product.name}&lt;/h3&gt;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&lt;p&gt;${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product.price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}&lt;/p&gt;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&lt;button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onClick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={() =&gt;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onAddToCart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(product.id)}&gt;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Add to cart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&lt;/button&gt;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&lt;/article&gt;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ProductList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({ products })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[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cartIds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setCartIds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([]);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handleAddToCart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useCallback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productId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setCartIds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((ids) =&gt; [...ids,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productId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}, []);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&lt;section&gt;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&lt;p&gt;Cart items: 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cartIds.length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}&lt;/p&gt;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products.map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((product) =&gt;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&lt;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ProductCard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key={product.id}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product={product}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onAddToCart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handleAddToCart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/&gt;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))}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&lt;/section&gt;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869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Real-Life Example: Filtering a Large Product List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import {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useMemo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} from "react";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ProductTable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({ products })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[query,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setQuery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("");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[category,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setCategory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("all");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[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sortBy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setSortBy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("price");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visibleProducts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useMemo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let result = products;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if 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query.trim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normalizedQuery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query.toLowerCase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result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result.filter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((product) =&gt;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product.name.toLowerCase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().includes(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normalizedQuery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if (category !== "all")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result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result.filter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((product) =&gt;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product.category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=== category);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return [...result].sort((a, b)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if 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sortBy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=== "price") return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a.price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b.price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if 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sortBy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=== "rating") return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b.rating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a.rating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return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a.name.localeCompare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(b.name);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}, [products, query, category,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sortBy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&lt;section&gt;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&lt;input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value={query}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onChange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={(event) =&gt;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setQuery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event.target.value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placeholder="Search products..."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/&gt;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&lt;select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value={category}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onChange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={(event) =&gt;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setCategory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event.target.value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&lt;option value="all"&gt;All&lt;/option&gt;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&lt;option value="laptops"&gt;Laptops&lt;/option&gt;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&lt;option value="phones"&gt;Phones&lt;/option&gt;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&lt;/select&gt;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&lt;select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value={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sortBy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onChange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={(event) =&gt;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setSortBy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event.target.value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&lt;option value="price"&gt;Price&lt;/option&gt;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&lt;option value="rating"&gt;Rating&lt;/option&gt;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&lt;option value="name"&gt;Name&lt;/option&gt;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&lt;/select&gt;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&lt;p&gt;{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visibleProducts.length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 products found&lt;/p&gt;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&lt;ul&gt;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visibleProducts.map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((product) =&gt;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&lt;li key={product.id}&gt;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{product.name} — ${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product.price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&lt;/li&gt;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))}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&lt;/ul&gt;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&lt;/section&gt;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542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Real-Life Custom Hook: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useOnlineStatus</a:t>
            </a:r>
            <a:endParaRPr lang="en-U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import {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useEffect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} from "react";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export 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useOnlineStatus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[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setIsOnline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navigator.onLine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useEffect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handleOnline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setIsOnline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(true);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handleOffline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setIsOnline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(false);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window.addEventListener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("online",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handleOnline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window.addEventListener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("offline",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handleOffline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return ()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window.removeEventListener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("online",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handleOnline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window.removeEventListener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("offline",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handleOffline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}, []);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Usage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NetworkBanner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useOnlineStatus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if 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isOnline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return null;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&lt;div role="alert"&gt;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You are offline. Some changes may not sync.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&lt;/div&gt;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228670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Real-Life Custom Hook: 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useLocalStorage</a:t>
            </a:r>
            <a:endParaRPr lang="en-U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Many applications need to persist settings such as theme, sidebar state, language, or draft input.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import {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useCallback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} from "react";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export 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useLocalStorage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(key,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initialValue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[value,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useState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try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storedValue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window.localStorage.getItem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(key);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return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storedValue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?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JSON.parse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storedValue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initialValue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 catch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return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initialValue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});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updateValue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useCallback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nextValue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currentValue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=&gt;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const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resolvedValue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typeof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nextValue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=== "function"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?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nextValue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currentValue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  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nextValue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window.localStorage.setItem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(key,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JSON.stringify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resolvedValue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return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resolvedValue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});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},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[key]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[value,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updateValue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Usage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function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SettingsPanel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() {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const [theme,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setTheme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useLocalStorage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("theme", "light");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return (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&lt;section&gt;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&lt;p&gt;Theme: {theme}&lt;/p&gt;</a:t>
            </a:r>
          </a:p>
          <a:p>
            <a:pPr marL="13970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&lt;button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onClick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={() =&gt;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setTheme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((current) =&gt; current === "dark" ? "light" : "dark")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}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Toggle theme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&lt;/button&gt;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&lt;/section&gt;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);</a:t>
            </a:r>
          </a:p>
          <a:p>
            <a:pPr marL="13970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770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DD75-F6D2-8739-098F-1FCDC4BC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2786A-BC5B-8A61-90C2-10704D77E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3CC04B-7C44-9B2E-082E-AE0F6C828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976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036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066" y="667365"/>
            <a:ext cx="7492181" cy="2698955"/>
          </a:xfrm>
        </p:spPr>
        <p:txBody>
          <a:bodyPr anchor="t">
            <a:normAutofit/>
          </a:bodyPr>
          <a:lstStyle>
            <a:lvl1pPr algn="l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066" y="3366319"/>
            <a:ext cx="5243832" cy="977081"/>
          </a:xfrm>
        </p:spPr>
        <p:txBody>
          <a:bodyPr anchor="b"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84A0-546A-4C7B-9611-1A11DA73FA05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1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EFDA8-3096-471A-B9F4-7A12D9DB07BB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4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38" y="1282304"/>
            <a:ext cx="797405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3442098"/>
            <a:ext cx="797405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FB31E-CFE6-45A7-AFF2-2DF0D0F4523D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1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685800"/>
            <a:ext cx="8018449" cy="9806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066" y="1666494"/>
            <a:ext cx="3909060" cy="280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6008" y="1666494"/>
            <a:ext cx="3909060" cy="280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46763-B066-4660-91E8-6C28CF14B302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9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5" y="696861"/>
            <a:ext cx="8017002" cy="598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066" y="1317404"/>
            <a:ext cx="3909060" cy="492919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066" y="1832027"/>
            <a:ext cx="3909060" cy="2639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36008" y="1317404"/>
            <a:ext cx="3909060" cy="492919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36008" y="1832027"/>
            <a:ext cx="3909060" cy="2639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61764-14DE-4119-9949-B1A1BB785561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6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F7A7-23C2-411F-AFAC-901759BB1ED4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62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4812-C686-45D7-ACDD-BC46D53CF1AE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3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7" y="802386"/>
            <a:ext cx="3070199" cy="98755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02386"/>
            <a:ext cx="4629150" cy="359340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8067" y="1913382"/>
            <a:ext cx="3070199" cy="248945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61E0-6E45-45F8-816F-548DB32ED598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44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7" y="800101"/>
            <a:ext cx="3077573" cy="98814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00100"/>
            <a:ext cx="4629150" cy="35956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8067" y="1914525"/>
            <a:ext cx="3077573" cy="248721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2E4D-2B89-417D-9032-9EE86077BCBE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9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EA53-6EE2-4DE8-B4D1-9A9F3CB187D2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9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742" y="748480"/>
            <a:ext cx="1761782" cy="37387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6696" y="748480"/>
            <a:ext cx="6355046" cy="37387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98F2-D83F-43C2-9E87-8CC32260F24F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1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C71A-4949-248C-75B6-7A545421C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776FE-EF9C-1A3C-A697-0965D46F1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40780-A504-30B0-2719-054295E62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B26C7-CD17-E830-46EB-E9EDC35D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53B03-9770-889F-D567-744BEAB3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4986079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555B-C033-6744-14C6-22B7EDDE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F66A5-FFD5-7FAE-4555-41B6C6C95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6800E-84F4-91C5-232F-7874CB1D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4A7F3-C726-1858-CD00-44C6DAC8F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FBD7A-7174-1FB4-D940-5D9D8D9C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913814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2B1C-E2CB-BBAE-CBEC-C898A083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24144-FE63-1126-EE5A-733C3919F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2D4B5-4D50-CB8B-8CD3-BF1A9CD2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5E964-72A2-695E-E5F9-1C3879D88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6B62F-CBD3-B303-0C38-F104179B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9253755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5326-2A1D-364A-F0B6-97067D31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0C5C-026C-C280-D141-94EF57000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5D989-1F73-93DE-071D-561AAE8EB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9ED11-485D-0205-348A-ED88A0AB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8D20E-E104-CB8B-5D0B-EF7A3112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B590C-C1F3-A60A-27D0-E2722D4C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57571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912-A73B-9436-D897-3348B6AC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7FE14-E52B-3925-B212-80DE8EBF6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0C989-F6E0-5823-FBB5-2C9FB4407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A2BB8-3043-C606-8EC5-23204CFC4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7FD4EB-F935-13DA-8CB8-D506280C3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0C6759-F8D2-9520-65B5-DBB9B8F1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B202B-693B-CF98-B20B-4B79F81A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76119-DF08-A2CD-834F-52B3F6E6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422171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B07B-856A-3B42-94B2-749E229D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E7B6C-2B2C-49B7-E9EB-206A4F03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30809-65CE-7553-B6EB-16885372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49DA-C613-5335-FB37-FB7E651D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2071574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00E1F-3524-C431-B0B2-362F9FBBB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75FA8-B46C-7072-4DF8-956C4AF8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BBA34-0629-553B-C5EE-0A771206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3926536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1A15-0DD8-8D35-2799-91CAF48EB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748CC-123E-090C-0A29-0DA5F617F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3DFCB-7EE0-4007-F768-DE9598E57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2F95E-2A53-A44B-AB1C-2793C8F7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64926-E7EC-5528-8F62-1ACED7005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FBB07-380E-76E1-115F-0E2F27A6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8531296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9D91-54E1-5247-3A17-DB3F3F31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8901CC-B779-302E-9DDA-491497510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DD622-D394-8AE1-67B9-8DD09F77F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7EC30-EE49-B715-9CD6-0419BDF4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A0EBC-C41F-960B-5044-3790A8A10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82DD8-9D04-F75D-1A68-579F0E2C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788065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7699-0689-DBD5-A03C-871407BF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6C77A-44A5-4033-17C2-CC35A9AB7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AB2E2-440D-755A-1CF9-A93139BB4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75B0B-FC2F-2F82-98B7-3296F1CB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50EAA-0DEE-E5E4-2E49-D411FEFD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0668633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C02F7-73C3-1B97-6582-E898FED4A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B9807-1C19-0AFA-E2AC-8B24A8799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FE359-63CD-530C-208F-5AE4C63D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3D2FF-06CA-683F-7B47-F2D16613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5E769-6DA1-C2D8-FB11-AD84EE0C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4000286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FACC-67A5-4704-9F3A-04096A278879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6224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61C0-2D4F-4141-BB40-E6226F1A5B68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469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64CF-3B60-4133-8738-B6C1634DF45C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8174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6FA-3A73-48F4-8072-0E8E1A291667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0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07EE-8086-467A-BD33-72860FA4E460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922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3A8E-85E0-492D-AB8A-0953E0BDC53D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935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8E7C3-1B20-40CB-B323-45DE390E564A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5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3038093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C26CB1B9-B6B8-4AE2-963F-837E4CDFBC60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77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5C3AEC-44A0-46DB-8B8A-408600457E88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541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BE1E0-DF5C-4819-941A-5492E0B02770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928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9226"/>
            <a:ext cx="1971675" cy="4319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9226"/>
            <a:ext cx="5800725" cy="43199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EFA9-E19B-49B5-B51B-E7A682F5BDBE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2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685800"/>
            <a:ext cx="8018449" cy="9806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77" y="1666494"/>
            <a:ext cx="8018449" cy="2804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/>
                </a:solidFill>
                <a:latin typeface="+mj-lt"/>
              </a:defRPr>
            </a:lvl1pPr>
          </a:lstStyle>
          <a:p>
            <a:fld id="{AE9C2830-3C5C-4D55-BDE7-40DDE5A9DE71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8067" y="4767263"/>
            <a:ext cx="34047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9259" y="4767263"/>
            <a:ext cx="50426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600075" y="542925"/>
            <a:ext cx="794385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600075" y="4607086"/>
            <a:ext cx="79438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24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kern="1200" cap="all" spc="2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060B2C-7246-6EAB-B3C9-BC54C5B6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2F70B-F0C1-4C81-429E-035581435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5257C-15F7-466E-E07D-5419B013AB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CC819-10AE-4A7A-91A7-FD6C26A7F15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F4D38-860E-B71A-BCF4-160E19716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4B57-1403-4EE2-0DAA-E595A2B15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2590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4750737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AE9C2830-3C5C-4D55-BDE7-40DDE5A9DE71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8679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8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>
            <a:extLst>
              <a:ext uri="{FF2B5EF4-FFF2-40B4-BE49-F238E27FC236}">
                <a16:creationId xmlns:a16="http://schemas.microsoft.com/office/drawing/2014/main" id="{71032473-CFB8-3D92-5645-1326E055F34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9752" b="19752"/>
          <a:stretch/>
        </p:blipFill>
        <p:spPr>
          <a:xfrm>
            <a:off x="0" y="0"/>
            <a:ext cx="9144000" cy="368617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6AABFC-EB3B-C76B-9A3B-81D8F5AB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16" y="3951308"/>
            <a:ext cx="7585234" cy="478959"/>
          </a:xfrm>
        </p:spPr>
        <p:txBody>
          <a:bodyPr/>
          <a:lstStyle/>
          <a:p>
            <a:r>
              <a:rPr lang="en-US" b="1" cap="all" spc="113" dirty="0">
                <a:latin typeface="Aptos" panose="020B0004020202020204" pitchFamily="34" charset="0"/>
                <a:ea typeface="Cascadia Mono SemiBold" panose="020B0609020000020004" pitchFamily="49" charset="0"/>
                <a:cs typeface="Segoe UI" panose="020B0502040204020203" pitchFamily="34" charset="0"/>
              </a:rPr>
              <a:t>CHAPTER 5:</a:t>
            </a:r>
            <a:endParaRPr lang="en-US" b="1" dirty="0">
              <a:latin typeface="Aptos" panose="020B00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29B45-4A68-E411-86D1-334A4ED6F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3900" y="4430268"/>
            <a:ext cx="7977329" cy="47895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Advanced React Hooks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C6C6A84-A556-FBBB-0061-8237F80A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878">
              <a:buClrTx/>
            </a:pPr>
            <a:r>
              <a:rPr lang="en-US" kern="1200">
                <a:solidFill>
                  <a:srgbClr val="DDDDDD"/>
                </a:solidFill>
                <a:latin typeface="Calibri" panose="020F0502020204030204"/>
                <a:ea typeface="+mn-ea"/>
              </a:rPr>
              <a:t>Jamhuriya university of science &amp; technology - copyright@2025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140E3-A07F-030B-C0AD-9AC6B273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878">
              <a:buClrTx/>
            </a:pPr>
            <a:fld id="{84EF7EEB-C9A5-40EC-A412-F38B288EA657}" type="slidenum">
              <a:rPr lang="en-US" kern="1200">
                <a:solidFill>
                  <a:srgbClr val="DDDDDD"/>
                </a:solidFill>
                <a:latin typeface="Calibri" panose="020F0502020204030204"/>
                <a:ea typeface="+mn-ea"/>
              </a:rPr>
              <a:pPr defTabSz="342878">
                <a:buClrTx/>
              </a:pPr>
              <a:t>1</a:t>
            </a:fld>
            <a:endParaRPr lang="en-US" kern="1200">
              <a:solidFill>
                <a:srgbClr val="DDDDDD"/>
              </a:solidFill>
              <a:latin typeface="Calibri" panose="020F0502020204030204"/>
              <a:ea typeface="+mn-ea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10761D2-EB64-2ED4-B3D5-EAB39E3E3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030" y="2738768"/>
            <a:ext cx="2080958" cy="1616639"/>
          </a:xfrm>
          <a:prstGeom prst="rect">
            <a:avLst/>
          </a:prstGeom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265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2AE47-B027-36EE-88C8-B7B089D9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492" y="685800"/>
            <a:ext cx="4677156" cy="511647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6559C2-ACF9-27CD-FBB2-7948020966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6" r="6716"/>
          <a:stretch/>
        </p:blipFill>
        <p:spPr>
          <a:xfrm>
            <a:off x="20" y="10"/>
            <a:ext cx="3497560" cy="51434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10153" y="541782"/>
            <a:ext cx="122872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7F27-4144-C194-6039-A8EE19B59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492" y="1342417"/>
            <a:ext cx="4677156" cy="327987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2400" dirty="0" err="1">
                <a:latin typeface="Aptos (Body)"/>
              </a:rPr>
              <a:t>useContext</a:t>
            </a:r>
            <a:r>
              <a:rPr lang="en-US" sz="2400" dirty="0">
                <a:latin typeface="Aptos (Body)"/>
              </a:rPr>
              <a:t> Hook</a:t>
            </a:r>
          </a:p>
          <a:p>
            <a:pPr lvl="0">
              <a:lnSpc>
                <a:spcPct val="100000"/>
              </a:lnSpc>
            </a:pPr>
            <a:r>
              <a:rPr lang="en-US" sz="2400" dirty="0" err="1">
                <a:latin typeface="Aptos (Body)"/>
              </a:rPr>
              <a:t>useRef</a:t>
            </a:r>
            <a:r>
              <a:rPr lang="en-US" sz="2400" dirty="0">
                <a:latin typeface="Aptos (Body)"/>
              </a:rPr>
              <a:t> Hook</a:t>
            </a:r>
          </a:p>
          <a:p>
            <a:pPr lvl="0">
              <a:lnSpc>
                <a:spcPct val="100000"/>
              </a:lnSpc>
            </a:pPr>
            <a:r>
              <a:rPr lang="en-US" sz="2400" dirty="0" err="1">
                <a:latin typeface="Aptos (Body)"/>
              </a:rPr>
              <a:t>useReducer</a:t>
            </a:r>
            <a:r>
              <a:rPr lang="en-US" sz="2400" dirty="0">
                <a:latin typeface="Aptos (Body)"/>
              </a:rPr>
              <a:t> Hook</a:t>
            </a:r>
          </a:p>
          <a:p>
            <a:pPr lvl="0">
              <a:lnSpc>
                <a:spcPct val="100000"/>
              </a:lnSpc>
            </a:pPr>
            <a:r>
              <a:rPr lang="en-US" sz="2400" dirty="0" err="1">
                <a:latin typeface="Aptos (Body)"/>
              </a:rPr>
              <a:t>useCallback</a:t>
            </a:r>
            <a:r>
              <a:rPr lang="en-US" sz="2400" dirty="0">
                <a:latin typeface="Aptos (Body)"/>
              </a:rPr>
              <a:t> Hook</a:t>
            </a:r>
          </a:p>
          <a:p>
            <a:pPr lvl="0">
              <a:lnSpc>
                <a:spcPct val="100000"/>
              </a:lnSpc>
            </a:pPr>
            <a:r>
              <a:rPr lang="en-US" sz="2400" dirty="0" err="1">
                <a:latin typeface="Aptos (Body)"/>
              </a:rPr>
              <a:t>useMemo</a:t>
            </a:r>
            <a:r>
              <a:rPr lang="en-US" sz="2400" dirty="0">
                <a:latin typeface="Aptos (Body)"/>
              </a:rPr>
              <a:t> Hook</a:t>
            </a:r>
          </a:p>
          <a:p>
            <a:pPr lvl="0">
              <a:lnSpc>
                <a:spcPct val="100000"/>
              </a:lnSpc>
            </a:pPr>
            <a:r>
              <a:rPr lang="en-US" sz="2400" dirty="0">
                <a:latin typeface="Aptos (Body)"/>
              </a:rPr>
              <a:t>Custom Hooks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347CA-D078-1B93-936B-25B61EB4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77086" y="4767262"/>
            <a:ext cx="1912173" cy="2738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A6EFDA8-3096-471A-B9F4-7A12D9DB07BB}" type="datetime1">
              <a:rPr lang="en-US" smtClean="0"/>
              <a:pPr>
                <a:spcAft>
                  <a:spcPts val="600"/>
                </a:spcAft>
              </a:pPr>
              <a:t>5/14/2026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69CD9-856D-91C2-4261-6B628689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9259" y="4767262"/>
            <a:ext cx="504265" cy="2738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z="12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31712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0"/>
            <a:ext cx="9169464" cy="515105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2"/>
            <a:ext cx="8829202" cy="515105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515105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2"/>
            <a:ext cx="9175185" cy="515105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363251" y="-646368"/>
            <a:ext cx="5146448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890229" y="816787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12F35-9F10-F788-5AC6-D10FCD37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614238"/>
            <a:ext cx="5036024" cy="23840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useContext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3367582"/>
            <a:ext cx="9163282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2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AC1FE-7F4A-E2A8-1B7C-5D2969CB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632C0-F5BA-CD66-D52A-CE8C285AB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 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useContext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Hook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77A77-59C3-C78B-5448-C4A47C15A8B1}"/>
              </a:ext>
            </a:extLst>
          </p:cNvPr>
          <p:cNvSpPr txBox="1"/>
          <p:nvPr/>
        </p:nvSpPr>
        <p:spPr>
          <a:xfrm>
            <a:off x="344513" y="1413958"/>
            <a:ext cx="8323394" cy="3508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React Context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 way to manage state globally.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can be used together with the 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useState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Hook to share state</a:t>
            </a:r>
            <a:b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deeply nested components more easily than with 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useState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alone.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000" b="1" kern="1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The Problem: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 should be held by the highest parent component in the stack that requires access to the state.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illustrate, we have many nested components. The component at the top and bottom of the stack need access to the state.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do this without Context, we will need to pass the state as "props" through each nested component. This is called "</a:t>
            </a:r>
            <a:r>
              <a:rPr lang="en-US" sz="2000" i="1" kern="1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prop drilling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07050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97" y="220903"/>
            <a:ext cx="7964566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Prop drilling</a:t>
            </a:r>
            <a:endParaRPr lang="en-US" sz="3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 txBox="1">
            <a:spLocks/>
          </p:cNvSpPr>
          <p:nvPr/>
        </p:nvSpPr>
        <p:spPr>
          <a:xfrm>
            <a:off x="486097" y="1421046"/>
            <a:ext cx="8171802" cy="265454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vert="horz" lIns="91440" tIns="45720" rIns="91440" bIns="45720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800" b="1" dirty="0">
                <a:solidFill>
                  <a:srgbClr val="C00000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rPr>
              <a:t>Prop drilling </a:t>
            </a:r>
            <a:r>
              <a:rPr lang="en-US" sz="2800" dirty="0">
                <a:latin typeface="+mn-lt"/>
                <a:ea typeface="Roboto" panose="02000000000000000000" pitchFamily="2" charset="0"/>
                <a:cs typeface="Roboto" panose="02000000000000000000" pitchFamily="2" charset="0"/>
              </a:rPr>
              <a:t>happens when data is passed through many components that do not need it, only because a deeply nested child needs access.</a:t>
            </a:r>
          </a:p>
        </p:txBody>
      </p:sp>
    </p:spTree>
    <p:extLst>
      <p:ext uri="{BB962C8B-B14F-4D97-AF65-F5344CB8AC3E}">
        <p14:creationId xmlns:p14="http://schemas.microsoft.com/office/powerpoint/2010/main" val="589163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B7E6C-46E7-7354-56AD-67A93F20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without context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F2F39D-D756-C425-DC7F-D3ECE3A47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0280" y="79662"/>
            <a:ext cx="3207206" cy="3215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CB05B8-3CA1-1A69-21BD-7BEE4311B202}"/>
              </a:ext>
            </a:extLst>
          </p:cNvPr>
          <p:cNvSpPr txBox="1"/>
          <p:nvPr/>
        </p:nvSpPr>
        <p:spPr>
          <a:xfrm>
            <a:off x="3839940" y="3509831"/>
            <a:ext cx="5212620" cy="738664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1F4E79"/>
                </a:solidFill>
                <a:effectLst/>
              </a:rPr>
              <a:t>Dashboard</a:t>
            </a:r>
            <a:r>
              <a:rPr lang="en-US" b="0" i="0" u="none" strike="noStrike" dirty="0">
                <a:solidFill>
                  <a:srgbClr val="604933"/>
                </a:solidFill>
                <a:effectLst/>
              </a:rPr>
              <a:t>, </a:t>
            </a:r>
            <a:r>
              <a:rPr lang="en-US" b="0" i="0" u="none" strike="noStrike" dirty="0" err="1">
                <a:solidFill>
                  <a:srgbClr val="1F4E79"/>
                </a:solidFill>
                <a:effectLst/>
              </a:rPr>
              <a:t>MainLayout</a:t>
            </a:r>
            <a:r>
              <a:rPr lang="en-US" b="0" i="0" u="none" strike="noStrike" dirty="0">
                <a:solidFill>
                  <a:srgbClr val="604933"/>
                </a:solidFill>
                <a:effectLst/>
              </a:rPr>
              <a:t>,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and </a:t>
            </a:r>
            <a:r>
              <a:rPr lang="en-US" b="0" i="0" u="none" strike="noStrike" dirty="0">
                <a:solidFill>
                  <a:srgbClr val="1F4E79"/>
                </a:solidFill>
                <a:effectLst/>
              </a:rPr>
              <a:t>Sidebar</a:t>
            </a:r>
            <a:r>
              <a:rPr lang="en-US" b="0" i="0" u="none" strike="noStrike" dirty="0">
                <a:solidFill>
                  <a:srgbClr val="604933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do not use the </a:t>
            </a:r>
            <a:r>
              <a:rPr lang="en-US" b="0" i="0" u="none" strike="noStrike" dirty="0">
                <a:solidFill>
                  <a:srgbClr val="1F4E79"/>
                </a:solidFill>
                <a:effectLst/>
              </a:rPr>
              <a:t>user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, but they are forced to pass it down. This creates unnecessary coupling.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1FFF6-024A-958F-A599-FB143718B276}"/>
              </a:ext>
            </a:extLst>
          </p:cNvPr>
          <p:cNvSpPr txBox="1"/>
          <p:nvPr/>
        </p:nvSpPr>
        <p:spPr>
          <a:xfrm>
            <a:off x="3839940" y="4323200"/>
            <a:ext cx="5212620" cy="738664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Real-world problem: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rgbClr val="C00000"/>
                </a:solidFill>
                <a:effectLst/>
              </a:rPr>
              <a:t>prop drilling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becomes painful in applications with authentication, themes, permissions, language settings, shopping carts, or tenant/company settings.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10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57A3B-B42C-89F1-C6E4-B7F711F1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81FA3B-3155-D3E7-C31C-A35232DB2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9C1B29-3C9E-0875-8124-65AF26C2E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304F96-707C-5DD5-E495-327C6293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30BCEF-997E-0C5E-13AD-2962C814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876896-BC3D-4C27-0623-1C6EB79CA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68D63-DE5B-5478-B949-9F3DB11BB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useContext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AE757-F44C-A6D3-52A7-9D265EB630B7}"/>
              </a:ext>
            </a:extLst>
          </p:cNvPr>
          <p:cNvSpPr txBox="1"/>
          <p:nvPr/>
        </p:nvSpPr>
        <p:spPr>
          <a:xfrm>
            <a:off x="344512" y="1413958"/>
            <a:ext cx="8239506" cy="2465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err="1">
                <a:solidFill>
                  <a:srgbClr val="134861"/>
                </a:solidFill>
                <a:latin typeface="+mn-lt"/>
              </a:rPr>
              <a:t>useContext</a:t>
            </a:r>
            <a:r>
              <a:rPr lang="en-US" sz="2000" dirty="0">
                <a:latin typeface="+mn-lt"/>
              </a:rPr>
              <a:t> solves this problem by </a:t>
            </a:r>
            <a:r>
              <a:rPr lang="en-US" sz="2000" dirty="0">
                <a:solidFill>
                  <a:srgbClr val="1F4E79"/>
                </a:solidFill>
                <a:latin typeface="+mn-lt"/>
              </a:rPr>
              <a:t>providing a more elegant solution for passing data down the component tree</a:t>
            </a:r>
            <a:r>
              <a:rPr lang="en-US" sz="2000" dirty="0">
                <a:latin typeface="+mn-lt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</a:rPr>
              <a:t>It allows components to consume values from a React context without the need to explicitly pass props through every level of the component hierarchy.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</a:rPr>
              <a:t>This makes the code cleaner, more readable, and easier to maintain.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CB732-D4E6-C0EA-7BF9-6FFE53AE6DEF}"/>
              </a:ext>
            </a:extLst>
          </p:cNvPr>
          <p:cNvSpPr txBox="1"/>
          <p:nvPr/>
        </p:nvSpPr>
        <p:spPr>
          <a:xfrm>
            <a:off x="298378" y="896183"/>
            <a:ext cx="854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46419-F836-F2BA-9546-EE2D67952D62}"/>
              </a:ext>
            </a:extLst>
          </p:cNvPr>
          <p:cNvSpPr txBox="1"/>
          <p:nvPr/>
        </p:nvSpPr>
        <p:spPr>
          <a:xfrm>
            <a:off x="790303" y="3695003"/>
            <a:ext cx="7660359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i="0" u="none" strike="noStrike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Context is useful when many components need the same data.</a:t>
            </a:r>
            <a:endParaRPr lang="en-US" sz="18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196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93D6D5-DD60-C891-74DC-AFB6869DD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Basic workflow of using </a:t>
            </a:r>
            <a:r>
              <a:rPr lang="en-US" sz="3000" dirty="0" err="1">
                <a:solidFill>
                  <a:srgbClr val="FFFFFF"/>
                </a:solidFill>
              </a:rPr>
              <a:t>useContext</a:t>
            </a:r>
            <a:r>
              <a:rPr lang="en-US" sz="3000" dirty="0">
                <a:solidFill>
                  <a:srgbClr val="FFFFFF"/>
                </a:solidFill>
              </a:rPr>
              <a:t> in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0E7AC-0A95-1D3E-3307-E0B18B893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470858"/>
            <a:ext cx="7293023" cy="2762519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Import </a:t>
            </a:r>
            <a:r>
              <a:rPr lang="en-US" sz="2400" dirty="0" err="1">
                <a:solidFill>
                  <a:srgbClr val="1F4E79"/>
                </a:solidFill>
              </a:rPr>
              <a:t>createContext</a:t>
            </a:r>
            <a:r>
              <a:rPr lang="en-US" sz="2400" dirty="0"/>
              <a:t> and </a:t>
            </a:r>
            <a:r>
              <a:rPr lang="en-US" sz="2400" dirty="0" err="1">
                <a:solidFill>
                  <a:srgbClr val="1F4E79"/>
                </a:solidFill>
              </a:rPr>
              <a:t>useContext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Create a context.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Wrap components with </a:t>
            </a:r>
            <a:r>
              <a:rPr lang="en-US" sz="2400" dirty="0" err="1">
                <a:solidFill>
                  <a:srgbClr val="1F4E79"/>
                </a:solidFill>
              </a:rPr>
              <a:t>Context.Provider</a:t>
            </a:r>
            <a:r>
              <a:rPr lang="en-US" sz="2400" dirty="0">
                <a:solidFill>
                  <a:srgbClr val="1F4E79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Pass data using the </a:t>
            </a:r>
            <a:r>
              <a:rPr lang="en-US" sz="2400" dirty="0">
                <a:solidFill>
                  <a:srgbClr val="1F4E79"/>
                </a:solidFill>
              </a:rPr>
              <a:t>value</a:t>
            </a:r>
            <a:r>
              <a:rPr lang="en-US" sz="2400" dirty="0"/>
              <a:t> prop.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Read the data using </a:t>
            </a:r>
            <a:r>
              <a:rPr lang="en-US" sz="2400" dirty="0" err="1">
                <a:solidFill>
                  <a:srgbClr val="1F4E79"/>
                </a:solidFill>
              </a:rPr>
              <a:t>useContext</a:t>
            </a:r>
            <a:r>
              <a:rPr lang="en-US" sz="2400" dirty="0">
                <a:solidFill>
                  <a:srgbClr val="1F4E79"/>
                </a:solidFill>
              </a:rPr>
              <a:t>(</a:t>
            </a:r>
            <a:r>
              <a:rPr lang="en-US" sz="2400" dirty="0" err="1">
                <a:solidFill>
                  <a:srgbClr val="1F4E79"/>
                </a:solidFill>
              </a:rPr>
              <a:t>ContextName</a:t>
            </a:r>
            <a:r>
              <a:rPr lang="en-US" sz="2400" dirty="0">
                <a:solidFill>
                  <a:srgbClr val="1F4E79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896620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8475EE-D708-6029-4C96-07FBDAC7B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Creating the Context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4512" y="1534887"/>
            <a:ext cx="8643845" cy="2966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cs typeface="Arial"/>
                <a:sym typeface="Arial"/>
              </a:rPr>
              <a:t>To create context, you must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cs typeface="Arial"/>
                <a:sym typeface="Arial"/>
              </a:rPr>
              <a:t>Import 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cs typeface="Arial"/>
                <a:sym typeface="Arial"/>
              </a:rPr>
              <a:t>createContext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cs typeface="Arial"/>
                <a:sym typeface="Arial"/>
              </a:rPr>
              <a:t> 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cs typeface="Arial"/>
                <a:sym typeface="Arial"/>
              </a:rPr>
              <a:t>and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cs typeface="Arial"/>
                <a:sym typeface="Arial"/>
              </a:rPr>
              <a:t> initialize it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cs typeface="Arial"/>
                <a:sym typeface="Arial"/>
              </a:rPr>
              <a:t>:</a:t>
            </a:r>
          </a:p>
          <a:p>
            <a:pPr marL="342900" lvl="1" indent="-342900">
              <a:buFont typeface="Arial" panose="020B0604020202020204" pitchFamily="34" charset="0"/>
              <a:buChar char="•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 panose="02110004020202020204"/>
              <a:cs typeface="Arial"/>
              <a:sym typeface="Arial"/>
            </a:endParaRPr>
          </a:p>
          <a:p>
            <a:pPr lvl="6"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import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{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createContext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useContext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}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from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"react"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;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</a:b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lvl="6"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const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UserContext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=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createContext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null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);</a:t>
            </a:r>
          </a:p>
          <a:p>
            <a:pPr marL="457200" marR="0" lvl="0" indent="-45720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617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Context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512" y="1496984"/>
            <a:ext cx="7977210" cy="3425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2400" kern="1200" dirty="0">
                <a:solidFill>
                  <a:srgbClr val="1F4E79"/>
                </a:solidFill>
                <a:latin typeface="+mn-lt"/>
                <a:ea typeface="+mn-ea"/>
                <a:cs typeface="+mn-cs"/>
              </a:rPr>
              <a:t>context provider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React is a component that provides a context value to its descendants in the component tree. 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part of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React's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Context API, which is designed for </a:t>
            </a:r>
            <a:r>
              <a:rPr lang="en-US" sz="2400" kern="1200" dirty="0">
                <a:solidFill>
                  <a:srgbClr val="1F4E79"/>
                </a:solidFill>
                <a:latin typeface="+mn-lt"/>
                <a:ea typeface="+mn-ea"/>
                <a:cs typeface="+mn-cs"/>
              </a:rPr>
              <a:t>managing global state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US" sz="2400" kern="1200" dirty="0">
                <a:solidFill>
                  <a:srgbClr val="1F4E79"/>
                </a:solidFill>
                <a:latin typeface="+mn-lt"/>
                <a:ea typeface="+mn-ea"/>
                <a:cs typeface="+mn-cs"/>
              </a:rPr>
              <a:t>sharing data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 the component tree without having to pass props down manually at every level.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using context providers, you can easily share data or state across multiple components in your React application, reducing the need for </a:t>
            </a:r>
            <a:r>
              <a:rPr lang="en-US" sz="2400" kern="1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prop drilling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making your code more concise and maintainable.</a:t>
            </a:r>
            <a:endParaRPr lang="en-US" sz="24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33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dirty="0">
                <a:solidFill>
                  <a:srgbClr val="FFFFFF"/>
                </a:solidFill>
              </a:rPr>
              <a:t>Context Provider</a:t>
            </a:r>
            <a:endParaRPr lang="en-US" sz="3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4509" y="1413958"/>
            <a:ext cx="7977213" cy="3249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571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 child components in the Context Provider and supply the state value.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function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App()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const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[user,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setUser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] =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useState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(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"Mohamed Ahmed"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return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  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UserContext.Provider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value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=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{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user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}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    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&lt;h1&gt;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Hello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{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user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}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!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&lt;/h1&gt;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    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&lt;User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/&gt;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  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UserContext.Provider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}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224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D6D7B-5A05-CDAE-26D5-AF28D5076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2947BCA-3317-8987-1D7C-A71694C3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54F76-E741-F12F-75C9-CCA12DA9C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21220E-1411-89FA-BB18-F36294C32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681962-CB05-7411-3D9F-C31B24ACE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02E2AF-B462-2F0C-7A52-EFD8368C8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370D8-7D37-C8BF-9651-853F2E32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the </a:t>
            </a:r>
            <a:r>
              <a:rPr lang="en-US" sz="3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useContext</a:t>
            </a: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Hook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9C6798-D485-01AF-653F-A9B4D5DE1564}"/>
              </a:ext>
            </a:extLst>
          </p:cNvPr>
          <p:cNvSpPr txBox="1"/>
          <p:nvPr/>
        </p:nvSpPr>
        <p:spPr>
          <a:xfrm>
            <a:off x="344509" y="1413958"/>
            <a:ext cx="8270445" cy="372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571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Now, all components in this tree will have access to the user Context.</a:t>
            </a:r>
          </a:p>
          <a:p>
            <a:pPr marL="571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To use the Context in a child component, we need to access it using the 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useContext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 Hook.</a:t>
            </a:r>
          </a:p>
          <a:p>
            <a:pPr marL="571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First, include the 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useContext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 in the import statement:</a:t>
            </a:r>
          </a:p>
          <a:p>
            <a:pPr>
              <a:lnSpc>
                <a:spcPts val="1800"/>
              </a:lnSpc>
              <a:buNone/>
            </a:pPr>
            <a:r>
              <a:rPr lang="en-US" sz="2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2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createContext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useContext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2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  <a:p>
            <a:pPr>
              <a:lnSpc>
                <a:spcPts val="1800"/>
              </a:lnSpc>
              <a:buNone/>
            </a:pPr>
            <a:r>
              <a:rPr lang="en-US" sz="2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User() {</a:t>
            </a:r>
          </a:p>
          <a:p>
            <a:pPr>
              <a:lnSpc>
                <a:spcPts val="1800"/>
              </a:lnSpc>
              <a:buNone/>
            </a:pP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= </a:t>
            </a:r>
            <a:r>
              <a:rPr lang="en-US" sz="2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useContext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UserContext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2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 Component</a:t>
            </a:r>
            <a:r>
              <a:rPr lang="en-US" sz="2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2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sz="2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2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again!</a:t>
            </a:r>
            <a:r>
              <a:rPr lang="en-US" sz="2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sz="2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2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sz="2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564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9FEAD-4EF6-1461-65BF-D28B7530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B0B54444-E40B-33A6-B2B5-2895F7FB3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C5DA763-AD4B-A90F-9F9C-72A7F9DBA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0"/>
            <a:ext cx="9169464" cy="515105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B6E046D-256B-91C8-9244-05BA96FD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2"/>
            <a:ext cx="8829202" cy="515105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0CCF2C9-0AD0-FA42-3A29-DAAA1EA25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515105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E3C0289-5BC7-C0E3-C236-1900349C0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2"/>
            <a:ext cx="9175185" cy="515105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6557B41-2000-718D-EB9E-73A372CA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363251" y="-646368"/>
            <a:ext cx="5146448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0B86F00-1495-AB62-8E1C-16F7B78C8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890229" y="816787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B3B3A-3C31-BDF3-F7E0-A0142C67F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614238"/>
            <a:ext cx="5036024" cy="23840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useRef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601114A-B03C-4469-A7C7-5497E42DB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3367582"/>
            <a:ext cx="9163282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7813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017EE-0833-7A2B-4DDE-887CE470D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A324A0C-97E3-9D27-4B58-FC572F242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79D380-41D8-1C2E-81C3-D26D091BC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7A00D8-B001-DB4E-DC27-CC576BA3E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BDFA94-FB4A-1D3B-3526-4622BD2F5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EEA370-7951-77C6-F0AA-4A55E0B49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140252-FF23-19E6-1C53-63AD969E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 </a:t>
            </a:r>
            <a:r>
              <a:rPr lang="en-US" sz="3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useRef</a:t>
            </a: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Hook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A6054-3FDE-5A82-01DE-5D64F5A4DC3B}"/>
              </a:ext>
            </a:extLst>
          </p:cNvPr>
          <p:cNvSpPr txBox="1"/>
          <p:nvPr/>
        </p:nvSpPr>
        <p:spPr>
          <a:xfrm>
            <a:off x="344509" y="1413958"/>
            <a:ext cx="8270445" cy="372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33925-3A8D-04CF-EC74-8A6102B0854F}"/>
              </a:ext>
            </a:extLst>
          </p:cNvPr>
          <p:cNvSpPr txBox="1"/>
          <p:nvPr/>
        </p:nvSpPr>
        <p:spPr>
          <a:xfrm>
            <a:off x="344509" y="1332620"/>
            <a:ext cx="85291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The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useRef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 Hook allows you to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 persist values between renders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It can be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used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 to store a mutable value that does not cause a re-render when updated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It can be used to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access a DOM element directly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	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Does Not Cause Re-renders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If we tried to count how many times our application renders using the 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useState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 Hook, we would be caught in an infinite loop since this Hook itself causes a re-render.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To avoid this, we can use the 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useRef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/>
              </a:rPr>
              <a:t> Hook.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 panose="020B0604020202020204" pitchFamily="34" charset="0"/>
              <a:sym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4B9F0F-1658-8F3B-5953-C309517356FA}"/>
              </a:ext>
            </a:extLst>
          </p:cNvPr>
          <p:cNvSpPr/>
          <p:nvPr/>
        </p:nvSpPr>
        <p:spPr>
          <a:xfrm>
            <a:off x="1492250" y="3225446"/>
            <a:ext cx="4038600" cy="349604"/>
          </a:xfrm>
          <a:prstGeom prst="roundRect">
            <a:avLst/>
          </a:prstGeom>
          <a:noFill/>
          <a:ln w="12700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19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10BF38-655C-53B7-3061-171006E5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73AFF3-3FCF-D9DA-2585-9CE9EE977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2B7D07-7701-D1E3-F6B9-706C2C17C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DCE8DF-83EE-7FF1-41A0-2B3977E00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FC4E80-95B1-828C-1EAC-FEB900513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8BA636-183D-9582-ACB1-D44A2A5F8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2D3F65-EE14-47C7-DF8E-607747581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b="1" dirty="0">
                <a:solidFill>
                  <a:schemeClr val="bg1"/>
                </a:solidFill>
              </a:rPr>
              <a:t>Basic syntax</a:t>
            </a:r>
            <a:endParaRPr lang="en-US" sz="3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F13EF-2DC7-432B-AA55-9E949BA306B4}"/>
              </a:ext>
            </a:extLst>
          </p:cNvPr>
          <p:cNvSpPr txBox="1"/>
          <p:nvPr/>
        </p:nvSpPr>
        <p:spPr>
          <a:xfrm>
            <a:off x="344509" y="1413958"/>
            <a:ext cx="8270445" cy="3380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9BE16-43B7-E424-F7E6-3DE3A78E2F89}"/>
              </a:ext>
            </a:extLst>
          </p:cNvPr>
          <p:cNvSpPr txBox="1"/>
          <p:nvPr/>
        </p:nvSpPr>
        <p:spPr>
          <a:xfrm>
            <a:off x="344509" y="1357849"/>
            <a:ext cx="8189504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/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useRef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initialValue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2"/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useRef</a:t>
            </a:r>
            <a:r>
              <a:rPr lang="en-US" sz="2000" dirty="0"/>
              <a:t>() only returns one item. It returns an Object called </a:t>
            </a:r>
            <a:r>
              <a:rPr lang="en-US" sz="2000" b="1" dirty="0"/>
              <a:t>current</a:t>
            </a:r>
            <a:r>
              <a:rPr lang="en-US" sz="2000" dirty="0"/>
              <a:t>.</a:t>
            </a:r>
          </a:p>
          <a:p>
            <a:pPr lvl="6"/>
            <a:r>
              <a:rPr lang="en-US" sz="2000" b="0" i="0" u="none" strike="noStrike" dirty="0">
                <a:solidFill>
                  <a:srgbClr val="1F4E7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lvl="6"/>
            <a:r>
              <a:rPr lang="en-US" sz="2000" b="0" i="0" u="none" strike="noStrike" dirty="0">
                <a:solidFill>
                  <a:srgbClr val="1F4E79"/>
                </a:solidFill>
                <a:effectLst/>
                <a:latin typeface="Consolas" panose="020B0609020204030204" pitchFamily="49" charset="0"/>
              </a:rPr>
              <a:t>  current: </a:t>
            </a:r>
            <a:r>
              <a:rPr lang="en-US" sz="2000" b="0" i="0" u="none" strike="noStrike" dirty="0" err="1">
                <a:solidFill>
                  <a:srgbClr val="1F4E79"/>
                </a:solidFill>
                <a:effectLst/>
                <a:latin typeface="Consolas" panose="020B0609020204030204" pitchFamily="49" charset="0"/>
              </a:rPr>
              <a:t>initialValue</a:t>
            </a:r>
            <a:endParaRPr lang="en-US" sz="2000" b="0" i="0" u="none" strike="noStrike" dirty="0">
              <a:solidFill>
                <a:srgbClr val="1F4E79"/>
              </a:solidFill>
              <a:effectLst/>
              <a:latin typeface="Consolas" panose="020B0609020204030204" pitchFamily="49" charset="0"/>
            </a:endParaRPr>
          </a:p>
          <a:p>
            <a:pPr lvl="6"/>
            <a:r>
              <a:rPr lang="en-US" sz="2000" b="0" i="0" u="none" strike="noStrike" dirty="0">
                <a:solidFill>
                  <a:srgbClr val="1F4E7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6"/>
            <a:endParaRPr lang="en-US" sz="2000" b="0" i="0" u="none" strike="noStrike" dirty="0">
              <a:solidFill>
                <a:srgbClr val="1F4E79"/>
              </a:solidFill>
              <a:effectLst/>
              <a:latin typeface="Consolas" panose="020B0609020204030204" pitchFamily="49" charset="0"/>
            </a:endParaRPr>
          </a:p>
          <a:p>
            <a:pPr marL="342900" lvl="6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+mn-lt"/>
              </a:rPr>
              <a:t>When we initialize </a:t>
            </a:r>
            <a:r>
              <a:rPr lang="en-US" sz="20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useRef</a:t>
            </a: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+mn-lt"/>
              </a:rPr>
              <a:t> we set the initial value: </a:t>
            </a:r>
            <a:r>
              <a:rPr lang="en-US" sz="20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useRef</a:t>
            </a: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+mn-lt"/>
              </a:rPr>
              <a:t>(0).</a:t>
            </a:r>
          </a:p>
          <a:p>
            <a:pPr marL="342900" lvl="6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+mn-lt"/>
              </a:rPr>
              <a:t>It's like doing this: const count = {current: 0}. </a:t>
            </a:r>
          </a:p>
          <a:p>
            <a:pPr marL="342900" lvl="6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+mn-lt"/>
              </a:rPr>
              <a:t>We can access the count by using </a:t>
            </a:r>
            <a:r>
              <a:rPr lang="en-US" sz="20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count.current</a:t>
            </a: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US" sz="2000" b="0" i="0" u="none" strike="noStrike" dirty="0">
              <a:solidFill>
                <a:srgbClr val="1F4E79"/>
              </a:solidFill>
              <a:effectLst/>
              <a:latin typeface="+mn-lt"/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+mn-lt"/>
              </a:rPr>
              <a:t>Changing</a:t>
            </a:r>
            <a:r>
              <a:rPr lang="en-US" sz="2000" b="0" i="0" u="none" strike="noStrike" dirty="0">
                <a:solidFill>
                  <a:srgbClr val="604933"/>
                </a:solidFill>
                <a:effectLst/>
                <a:latin typeface="+mn-lt"/>
              </a:rPr>
              <a:t> </a:t>
            </a:r>
            <a:r>
              <a:rPr lang="en-US" sz="2000" b="0" i="0" u="none" strike="noStrike" dirty="0" err="1">
                <a:solidFill>
                  <a:srgbClr val="1F4E79"/>
                </a:solidFill>
                <a:effectLst/>
                <a:latin typeface="+mn-lt"/>
              </a:rPr>
              <a:t>ref.current</a:t>
            </a:r>
            <a:r>
              <a:rPr lang="en-US" sz="2000" b="0" i="0" u="none" strike="noStrike" dirty="0">
                <a:solidFill>
                  <a:srgbClr val="1F4E79"/>
                </a:solidFill>
                <a:effectLst/>
                <a:latin typeface="+mn-lt"/>
              </a:rPr>
              <a:t> </a:t>
            </a: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+mn-lt"/>
              </a:rPr>
              <a:t>does not trigger a re-render.</a:t>
            </a:r>
          </a:p>
        </p:txBody>
      </p:sp>
    </p:spTree>
    <p:extLst>
      <p:ext uri="{BB962C8B-B14F-4D97-AF65-F5344CB8AC3E}">
        <p14:creationId xmlns:p14="http://schemas.microsoft.com/office/powerpoint/2010/main" val="3326784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F0CC3-BD46-22CA-CBFF-EFAC69BB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1869B5F-14FC-2B69-F22A-58CAB1ACF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D8CB6E-4C82-9BD7-DBBB-8FD17A41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B53D30-3815-3919-7D5C-8CC20EB62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05CB12-4FE9-071E-1FBD-BAE290AB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BBF0A6-5726-9DEB-1B63-F43E0D756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05592-9B87-4FA5-4D76-5ECCDF607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useRef</a:t>
            </a: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hook use cases in React applications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CBD6C-72DC-3DCD-8936-7DC72D03CB95}"/>
              </a:ext>
            </a:extLst>
          </p:cNvPr>
          <p:cNvSpPr txBox="1"/>
          <p:nvPr/>
        </p:nvSpPr>
        <p:spPr>
          <a:xfrm>
            <a:off x="344509" y="1413958"/>
            <a:ext cx="8270445" cy="372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A63E57-FD33-033E-5368-E46F1D105E94}"/>
              </a:ext>
            </a:extLst>
          </p:cNvPr>
          <p:cNvSpPr txBox="1"/>
          <p:nvPr/>
        </p:nvSpPr>
        <p:spPr>
          <a:xfrm>
            <a:off x="344509" y="1586739"/>
            <a:ext cx="861495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cs typeface="Arial" panose="020B0604020202020204" pitchFamily="34" charset="0"/>
              </a:rPr>
              <a:t>It is mainly used for:</a:t>
            </a:r>
          </a:p>
          <a:p>
            <a:pPr marL="457200" lvl="2">
              <a:buFont typeface="+mj-lt"/>
              <a:buAutoNum type="arabicPeriod"/>
            </a:pPr>
            <a:r>
              <a:rPr lang="en-US" sz="2800" dirty="0">
                <a:latin typeface="+mn-lt"/>
                <a:cs typeface="Arial" panose="020B0604020202020204" pitchFamily="34" charset="0"/>
              </a:rPr>
              <a:t>Accessing DOM elements directly.</a:t>
            </a:r>
          </a:p>
          <a:p>
            <a:pPr marL="457200" lvl="2">
              <a:buFont typeface="+mj-lt"/>
              <a:buAutoNum type="arabicPeriod"/>
            </a:pPr>
            <a:r>
              <a:rPr lang="en-US" sz="2800" dirty="0">
                <a:latin typeface="+mn-lt"/>
                <a:cs typeface="Arial" panose="020B0604020202020204" pitchFamily="34" charset="0"/>
              </a:rPr>
              <a:t>Persisting values between renders.</a:t>
            </a:r>
          </a:p>
          <a:p>
            <a:pPr marL="457200" lvl="2">
              <a:buFont typeface="+mj-lt"/>
              <a:buAutoNum type="arabicPeriod"/>
            </a:pPr>
            <a:r>
              <a:rPr lang="en-US" sz="2800" dirty="0">
                <a:latin typeface="+mn-lt"/>
                <a:cs typeface="Arial" panose="020B0604020202020204" pitchFamily="34" charset="0"/>
              </a:rPr>
              <a:t>Storing mutable data without triggering UI updates.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A60EB-E7F0-F54C-449D-B1E1CFAE1C5D}"/>
              </a:ext>
            </a:extLst>
          </p:cNvPr>
          <p:cNvSpPr txBox="1"/>
          <p:nvPr/>
        </p:nvSpPr>
        <p:spPr>
          <a:xfrm>
            <a:off x="344509" y="4006289"/>
            <a:ext cx="8270444" cy="578882"/>
          </a:xfrm>
          <a:prstGeom prst="round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u="none" strike="noStrik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Key distinction: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use state when the UI should update. Use ref when you need to remember something but changing it should not update the UI.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672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9921C-48C4-B508-2CE4-66E10EAE6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BFE680-39AA-AAA9-5F0E-D84C8D2A2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5A6172-29F7-E562-5EC2-5C4166A5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3A4554-F144-376A-3FD6-63D8D793F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98678A-71A0-32F6-5A83-6670EA9A5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827C12-699E-AEFC-9621-15CD09FEE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46B8F-9478-01D2-4722-37FD1537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 Accessing DOM elements: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9463AA-799E-F2B0-2CC7-1A79A9BC6F7D}"/>
              </a:ext>
            </a:extLst>
          </p:cNvPr>
          <p:cNvSpPr txBox="1"/>
          <p:nvPr/>
        </p:nvSpPr>
        <p:spPr>
          <a:xfrm>
            <a:off x="344509" y="1413958"/>
            <a:ext cx="8270445" cy="372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4C7458-63EC-84BA-F5CE-6E974FAB58B9}"/>
              </a:ext>
            </a:extLst>
          </p:cNvPr>
          <p:cNvSpPr txBox="1"/>
          <p:nvPr/>
        </p:nvSpPr>
        <p:spPr>
          <a:xfrm>
            <a:off x="344508" y="1418974"/>
            <a:ext cx="8106153" cy="248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One common use case for </a:t>
            </a:r>
            <a:r>
              <a:rPr lang="en-US" sz="2000" dirty="0" err="1">
                <a:solidFill>
                  <a:srgbClr val="1F4E79"/>
                </a:solidFill>
                <a:latin typeface="+mn-lt"/>
              </a:rPr>
              <a:t>useRef</a:t>
            </a:r>
            <a:r>
              <a:rPr lang="en-US" sz="2000" dirty="0">
                <a:latin typeface="+mn-lt"/>
              </a:rPr>
              <a:t> is to </a:t>
            </a:r>
            <a:r>
              <a:rPr lang="en-US" sz="2000" dirty="0">
                <a:solidFill>
                  <a:srgbClr val="1F4E79"/>
                </a:solidFill>
                <a:latin typeface="+mn-lt"/>
              </a:rPr>
              <a:t>access and interact with DOM elements directly</a:t>
            </a:r>
            <a:r>
              <a:rPr lang="en-US" sz="2000" dirty="0">
                <a:latin typeface="+mn-lt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You can use </a:t>
            </a:r>
            <a:r>
              <a:rPr lang="en-US" sz="2000" dirty="0" err="1">
                <a:latin typeface="+mn-lt"/>
              </a:rPr>
              <a:t>useRef</a:t>
            </a:r>
            <a:r>
              <a:rPr lang="en-US" sz="2000" dirty="0">
                <a:latin typeface="+mn-lt"/>
              </a:rPr>
              <a:t> to create a reference to a DOM element and then access properties or call methods on that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To create ref, you must Import </a:t>
            </a:r>
            <a:r>
              <a:rPr lang="en-US" sz="2000" dirty="0" err="1">
                <a:latin typeface="+mn-lt"/>
              </a:rPr>
              <a:t>useRef</a:t>
            </a:r>
            <a:r>
              <a:rPr lang="en-US" sz="2000" dirty="0">
                <a:latin typeface="+mn-lt"/>
              </a:rPr>
              <a:t> from react:</a:t>
            </a:r>
          </a:p>
          <a:p>
            <a:endParaRPr lang="en-US" sz="2000" dirty="0">
              <a:latin typeface="+mj-lt"/>
            </a:endParaRPr>
          </a:p>
          <a:p>
            <a:pPr>
              <a:lnSpc>
                <a:spcPts val="1800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+mj-lt"/>
              </a:rPr>
              <a:t>	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+mj-lt"/>
              </a:rPr>
              <a:t> {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+mj-lt"/>
              </a:rPr>
              <a:t>useRef</a:t>
            </a:r>
            <a:r>
              <a:rPr lang="en-US" sz="2000" b="0" dirty="0">
                <a:solidFill>
                  <a:srgbClr val="000000"/>
                </a:solidFill>
                <a:effectLst/>
                <a:latin typeface="+mj-lt"/>
              </a:rPr>
              <a:t> } </a:t>
            </a:r>
            <a:r>
              <a:rPr lang="en-US" sz="2000" b="0" dirty="0">
                <a:solidFill>
                  <a:srgbClr val="0000FF"/>
                </a:solidFill>
                <a:effectLst/>
                <a:latin typeface="+mj-lt"/>
              </a:rPr>
              <a:t>from</a:t>
            </a:r>
            <a:r>
              <a:rPr lang="en-US" sz="2000" b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sz="2000" b="0" dirty="0">
                <a:solidFill>
                  <a:srgbClr val="A31515"/>
                </a:solidFill>
                <a:effectLst/>
                <a:latin typeface="+mj-lt"/>
              </a:rPr>
              <a:t>"react"</a:t>
            </a:r>
            <a:r>
              <a:rPr lang="en-US" sz="2000" b="0" dirty="0">
                <a:solidFill>
                  <a:srgbClr val="000000"/>
                </a:solidFill>
                <a:effectLst/>
                <a:latin typeface="+mj-lt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24042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715C25-8D14-564E-66CC-81D6EE166A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0715" y="0"/>
            <a:ext cx="7251912" cy="44730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BC986F-7116-7B86-BF48-2338DF13CBDA}"/>
              </a:ext>
            </a:extLst>
          </p:cNvPr>
          <p:cNvSpPr txBox="1"/>
          <p:nvPr/>
        </p:nvSpPr>
        <p:spPr>
          <a:xfrm>
            <a:off x="6680792" y="3303948"/>
            <a:ext cx="2371060" cy="1600438"/>
          </a:xfrm>
          <a:prstGeom prst="wedgeRectCallout">
            <a:avLst/>
          </a:prstGeom>
          <a:noFill/>
          <a:ln>
            <a:solidFill>
              <a:srgbClr val="1F4E79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 is useful in: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Search bars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Login forms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Modal dialogs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Chat input boxes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OTP inputs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Admin dashboards</a:t>
            </a:r>
          </a:p>
        </p:txBody>
      </p:sp>
    </p:spTree>
    <p:extLst>
      <p:ext uri="{BB962C8B-B14F-4D97-AF65-F5344CB8AC3E}">
        <p14:creationId xmlns:p14="http://schemas.microsoft.com/office/powerpoint/2010/main" val="1224724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8DB6E-29ED-2AD8-CC12-5CCA5C9E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D3A7E07-58C3-4651-475E-E391E30BB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8BC55D-78C6-B416-03A5-A6058206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29BA2E-D936-0DD7-24DE-31CDD9C9E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1CD41E-2BFD-BEB2-89DC-7A6CDA287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397370-5081-1427-AD9D-4E3A24B2A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2203D-DD78-E317-8294-5EE942866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 Storing mutable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5C5CC0-1E92-E912-7712-E68E473898DC}"/>
              </a:ext>
            </a:extLst>
          </p:cNvPr>
          <p:cNvSpPr txBox="1"/>
          <p:nvPr/>
        </p:nvSpPr>
        <p:spPr>
          <a:xfrm>
            <a:off x="344509" y="1413958"/>
            <a:ext cx="8270445" cy="372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BF8CDE-EAEC-1C3E-3C15-E0276EABD7E9}"/>
              </a:ext>
            </a:extLst>
          </p:cNvPr>
          <p:cNvSpPr txBox="1"/>
          <p:nvPr/>
        </p:nvSpPr>
        <p:spPr>
          <a:xfrm>
            <a:off x="344508" y="1556087"/>
            <a:ext cx="81061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You can use </a:t>
            </a:r>
            <a:r>
              <a:rPr lang="en-US" sz="2000" dirty="0" err="1">
                <a:latin typeface="+mn-lt"/>
                <a:cs typeface="Arial" panose="020B0604020202020204" pitchFamily="34" charset="0"/>
              </a:rPr>
              <a:t>useRef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to </a:t>
            </a:r>
            <a:r>
              <a:rPr lang="en-US" sz="2000" dirty="0">
                <a:solidFill>
                  <a:srgbClr val="1F4E79"/>
                </a:solidFill>
                <a:latin typeface="+mn-lt"/>
                <a:cs typeface="Arial" panose="020B0604020202020204" pitchFamily="34" charset="0"/>
              </a:rPr>
              <a:t>store mutable values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that you want to persist between renders.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These values can be updated directly without causing re-renders.</a:t>
            </a:r>
          </a:p>
        </p:txBody>
      </p:sp>
    </p:spTree>
    <p:extLst>
      <p:ext uri="{BB962C8B-B14F-4D97-AF65-F5344CB8AC3E}">
        <p14:creationId xmlns:p14="http://schemas.microsoft.com/office/powerpoint/2010/main" val="3990978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AC931-EB5D-9486-C006-7BF9265C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C26B3B1-C572-A565-0422-18CEB8CF9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055D95-D679-246F-FB5D-3A9B90894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DAF55C-6B47-3BA3-6E6F-C70B7AAEE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D1FC3F-58F9-A08F-0C51-4F679D2D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006678A-9521-D350-7B0F-1106AAA2E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5BDBD6-0B32-43E9-AACC-7F13E2E9F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defTabSz="914400"/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Example: Count renders without causing re-render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F84F21-4D53-9DAB-61FD-F778088841E4}"/>
              </a:ext>
            </a:extLst>
          </p:cNvPr>
          <p:cNvSpPr txBox="1"/>
          <p:nvPr/>
        </p:nvSpPr>
        <p:spPr>
          <a:xfrm>
            <a:off x="3450781" y="4499769"/>
            <a:ext cx="5524455" cy="523220"/>
          </a:xfrm>
          <a:prstGeom prst="rect">
            <a:avLst/>
          </a:prstGeom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This works because the render count is not part of the visual state that should drive rendering.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56A319-533D-4172-F663-CD49B8E06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0781" y="25846"/>
            <a:ext cx="4637052" cy="46434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377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C23BD-15F8-A00D-DD8E-73C30B796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812D283B-D763-20A0-B7B5-6FE3EAE90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FEE149B-733B-2772-FC5E-39CC7C158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0"/>
            <a:ext cx="9169464" cy="515105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9290C7-5813-D4F4-985C-607B8FF3E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2"/>
            <a:ext cx="8829202" cy="515105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7690540-43AF-B231-0F66-18747B1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515105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1A07D34-6573-5A6E-5F88-1B91B32A7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2"/>
            <a:ext cx="9175185" cy="515105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9E76682-5836-CCA8-9AA0-8FE164AA6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363251" y="-646368"/>
            <a:ext cx="5146448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E7D2537E-CA18-1789-5B9E-ED8B6C237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890229" y="816787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24B58-8E42-FC11-EBBD-83F16B43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614238"/>
            <a:ext cx="5036024" cy="23840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useReducer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5EDED3E-2C29-5C1F-07B1-8CE5C8A02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3367582"/>
            <a:ext cx="9163282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4358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/>
            <a:r>
              <a:rPr lang="en-US" sz="1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 useReducer 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3944" y="141767"/>
            <a:ext cx="5755758" cy="4905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auto">
              <a:spcBef>
                <a:spcPts val="60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useReducer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Hook is similar to the 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useState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Hook. It allows for custom state logic.</a:t>
            </a:r>
          </a:p>
          <a:p>
            <a:pPr marL="0" marR="0" lvl="0" indent="-228600" fontAlgn="auto">
              <a:spcBef>
                <a:spcPts val="60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If you find yourself keeping track of multiple pieces of state that rely on complex logic, 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useReducer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may be useful.</a:t>
            </a:r>
          </a:p>
          <a:p>
            <a:pPr marR="0" lvl="0" fontAlgn="auto">
              <a:spcBef>
                <a:spcPts val="600"/>
              </a:spcBef>
              <a:buClr>
                <a:srgbClr val="000000"/>
              </a:buClr>
              <a:buSzTx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Syntax:</a:t>
            </a:r>
          </a:p>
          <a:p>
            <a:pPr marR="0" lvl="0" indent="-228600" fontAlgn="auto">
              <a:spcBef>
                <a:spcPts val="60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useReducer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Hook accepts two arguments:</a:t>
            </a:r>
          </a:p>
          <a:p>
            <a:pPr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useReducer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&lt;reducer&gt;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initialState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  <a:p>
            <a:pPr marL="0" marR="0" lvl="0" indent="-228600" fontAlgn="auto">
              <a:spcBef>
                <a:spcPts val="60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reducer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function contains your custom state logic and the 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initialState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can be a simple value but generally will contain an object.</a:t>
            </a:r>
          </a:p>
          <a:p>
            <a:pPr marL="0" marR="0" lvl="0" indent="-228600" fontAlgn="auto">
              <a:spcBef>
                <a:spcPts val="60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 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useReducer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Hook returns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current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state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and a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dispatch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method.</a:t>
            </a:r>
          </a:p>
          <a:p>
            <a:pPr marL="0" marR="0" lvl="0" indent="-228600" fontAlgn="auto">
              <a:spcBef>
                <a:spcPts val="60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useReducer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hook in React is used to manage complex state logic in functional components. It's an alternative to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useState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that allows you to update the state based on the previous state and an action.</a:t>
            </a:r>
          </a:p>
        </p:txBody>
      </p:sp>
    </p:spTree>
    <p:extLst>
      <p:ext uri="{BB962C8B-B14F-4D97-AF65-F5344CB8AC3E}">
        <p14:creationId xmlns:p14="http://schemas.microsoft.com/office/powerpoint/2010/main" val="1938224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691F8-39A3-B3ED-05F8-F60C5295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434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9674" y="1994553"/>
            <a:ext cx="3266696" cy="303055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5F73A4-DCCE-B410-35CD-A50A69C8E7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59" b="2555"/>
          <a:stretch>
            <a:fillRect/>
          </a:stretch>
        </p:blipFill>
        <p:spPr>
          <a:xfrm>
            <a:off x="3028949" y="10"/>
            <a:ext cx="6120019" cy="5156854"/>
          </a:xfrm>
          <a:prstGeom prst="rect">
            <a:avLst/>
          </a:prstGeom>
        </p:spPr>
      </p:pic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0A93D-4074-006D-2C4A-01523F6E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4" y="2212790"/>
            <a:ext cx="2289220" cy="26485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/>
            <a:r>
              <a:rPr lang="en-US" sz="1400" b="1">
                <a:solidFill>
                  <a:srgbClr val="FFFFFF"/>
                </a:solidFill>
              </a:rPr>
              <a:t>React useReducer Hook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032BA-42A7-4769-8090-70935B49B8CC}"/>
              </a:ext>
            </a:extLst>
          </p:cNvPr>
          <p:cNvSpPr txBox="1"/>
          <p:nvPr/>
        </p:nvSpPr>
        <p:spPr>
          <a:xfrm>
            <a:off x="3203944" y="141767"/>
            <a:ext cx="5755758" cy="4905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057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513" y="1346791"/>
            <a:ext cx="8480510" cy="36363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fontAlgn="auto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In the above example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: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We defined a reducer function (reducer) that takes the current state and an action as parameters and returns the new state based on the action.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We created a component (Counter) that initializes its state using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useReducer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initial state is an object with a count property set to 0.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Inside the component, we rendered the current count value from the state and two buttons to increment and decrement the count. When a button is clicked, it dispatches an action to the reducer.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reducer updates the state based on the action type and returns the new state. React then updates the component with the new state, causing it to re-render.</a:t>
            </a:r>
          </a:p>
        </p:txBody>
      </p:sp>
    </p:spTree>
    <p:extLst>
      <p:ext uri="{BB962C8B-B14F-4D97-AF65-F5344CB8AC3E}">
        <p14:creationId xmlns:p14="http://schemas.microsoft.com/office/powerpoint/2010/main" val="2203239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8004D-158E-E938-441B-4BAE35AE2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10A44A-6ECE-9549-8CCF-81E47F6A4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AAE8D7-B541-8835-40AC-C79660301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0AB310-7E7D-24C0-0AB2-9DE776AB4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480EE7-DD1E-3FD0-658A-1D60F90CF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69B73-E466-95A7-E9A0-B1847E367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B310F-C658-4B4D-837E-742A83DD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/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When to Choose 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useReducer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Instead of 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useState</a:t>
            </a:r>
            <a:endParaRPr lang="en-US" sz="3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91F1E-DAF2-E240-2F35-A2258AC89CA0}"/>
              </a:ext>
            </a:extLst>
          </p:cNvPr>
          <p:cNvSpPr txBox="1"/>
          <p:nvPr/>
        </p:nvSpPr>
        <p:spPr>
          <a:xfrm>
            <a:off x="344509" y="1325527"/>
            <a:ext cx="8473426" cy="369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285750" marR="0" lvl="0" indent="-285750" algn="l" defTabSz="914400" rtl="0" eaLnBrk="1" fontAlgn="auto" latinLnBrk="0" hangingPunct="1"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Use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useState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 when:</a:t>
            </a:r>
          </a:p>
          <a:p>
            <a:pPr marL="285750" lvl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State is simple.</a:t>
            </a:r>
          </a:p>
          <a:p>
            <a:pPr marL="285750" lvl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Updates are independent.</a:t>
            </a:r>
          </a:p>
          <a:p>
            <a:pPr marL="285750" lvl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The next state is easy to calculate.</a:t>
            </a:r>
          </a:p>
          <a:p>
            <a:pPr marL="285750" marR="0" lvl="0" indent="-285750" algn="l" defTabSz="914400" rtl="0" eaLnBrk="1" fontAlgn="auto" latinLnBrk="0" hangingPunct="1"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Use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useReducer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 when:</a:t>
            </a:r>
          </a:p>
          <a:p>
            <a:pPr marL="285750" marR="0" lvl="0" algn="l" defTabSz="914400" rtl="0" eaLnBrk="1" fontAlgn="auto" latinLnBrk="0" hangingPunct="1"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State has multiple fields.</a:t>
            </a:r>
          </a:p>
          <a:p>
            <a:pPr marL="285750" marR="0" lvl="0" algn="l" defTabSz="914400" rtl="0" eaLnBrk="1" fontAlgn="auto" latinLnBrk="0" hangingPunct="1"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State transitions depend on action types.</a:t>
            </a:r>
          </a:p>
          <a:p>
            <a:pPr marL="285750" marR="0" lvl="0" algn="l" defTabSz="914400" rtl="0" eaLnBrk="1" fontAlgn="auto" latinLnBrk="0" hangingPunct="1"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Updates must be predictable.</a:t>
            </a:r>
          </a:p>
          <a:p>
            <a:pPr marL="285750" marR="0" lvl="0" algn="l" defTabSz="914400" rtl="0" eaLnBrk="1" fontAlgn="auto" latinLnBrk="0" hangingPunct="1"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Business rules are growing.</a:t>
            </a:r>
          </a:p>
          <a:p>
            <a:pPr marL="285750" marR="0" lvl="0" algn="l" defTabSz="914400" rtl="0" eaLnBrk="1" fontAlgn="auto" latinLnBrk="0" hangingPunct="1"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Several event handlers update the same state in different ways.</a:t>
            </a:r>
          </a:p>
          <a:p>
            <a:pPr marL="285750" marR="0" lvl="0" algn="l" defTabSz="914400" rtl="0" eaLnBrk="1" fontAlgn="auto" latinLnBrk="0" hangingPunct="1"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You want reducer logic outside the component for testing.</a:t>
            </a:r>
          </a:p>
        </p:txBody>
      </p:sp>
    </p:spTree>
    <p:extLst>
      <p:ext uri="{BB962C8B-B14F-4D97-AF65-F5344CB8AC3E}">
        <p14:creationId xmlns:p14="http://schemas.microsoft.com/office/powerpoint/2010/main" val="1201214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D322E-E344-75DB-AD0C-DBA34F290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C5E100FF-55E5-759E-9456-41D8133C8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A59428F-4BCE-22FD-9898-B083B236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0"/>
            <a:ext cx="9169464" cy="515105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618C477-A7A0-9098-3264-5818A792A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2"/>
            <a:ext cx="8829202" cy="515105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7A3C745-B80F-5E5A-4ACB-D9C093430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515105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97761F4-2B6B-8DCE-DB93-EEE97BE0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2"/>
            <a:ext cx="9175185" cy="515105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35F29F4-48D5-A4DF-1805-1E86FE54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363251" y="-646368"/>
            <a:ext cx="5146448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EAC77A6-EA3A-667B-6AD0-4A6FD282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890229" y="816787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03F2A-DA02-2B4B-5397-480B6E592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614238"/>
            <a:ext cx="5036024" cy="23840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useCallback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11AC0D9-D010-6D29-9161-0BC3884DD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3367582"/>
            <a:ext cx="9163282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5847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 useCallback 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513" y="1413959"/>
            <a:ext cx="8466334" cy="3508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useCallback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is a React hook that allows you to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a callback function. </a:t>
            </a:r>
          </a:p>
          <a:p>
            <a:pPr marL="0" marR="0" lvl="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It returns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version of the callback function that only changes if one of the dependencies has changed. This can be useful for optimizing performance by preventing unnecessary re-renders or re-computations.</a:t>
            </a:r>
          </a:p>
          <a:p>
            <a:pPr marL="0" marR="0" lvl="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React 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useCallback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Hook returns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callback function.</a:t>
            </a:r>
          </a:p>
          <a:p>
            <a:pPr marL="0" marR="0" lvl="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  <a:p>
            <a:pPr marL="0" marR="0" lvl="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Memoization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  <a:p>
            <a:pPr marL="0" marR="0" lvl="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term “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” comes from the Latin word 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memorandum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” (“to remember”), which is commonly shortened to “memo” , and which means 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to transform the results of a function into something to remember.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”.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  <a:p>
            <a:pPr marL="0" marR="0" lvl="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Think of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as caching a value so that it does not need to be recalculated.</a:t>
            </a:r>
          </a:p>
        </p:txBody>
      </p:sp>
    </p:spTree>
    <p:extLst>
      <p:ext uri="{BB962C8B-B14F-4D97-AF65-F5344CB8AC3E}">
        <p14:creationId xmlns:p14="http://schemas.microsoft.com/office/powerpoint/2010/main" val="1704295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 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useCallback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513" y="1413959"/>
            <a:ext cx="8629366" cy="3508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Here's how you use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useCallback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: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Import the hook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First, make sure to import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useCallback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from React.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 the hook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useCallback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takes two arguments:</a:t>
            </a:r>
          </a:p>
          <a:p>
            <a:pPr marL="457200" lvl="5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first argument is the function you want to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.</a:t>
            </a:r>
          </a:p>
          <a:p>
            <a:pPr marL="457200" lvl="5" indent="-457200">
              <a:spcAft>
                <a:spcPts val="600"/>
              </a:spcAft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second argument is an array of dependencies. If any value in this array changes, the function will be re-created.</a:t>
            </a:r>
          </a:p>
          <a:p>
            <a:pPr marL="0" marR="0" lvl="0" indent="-228600" fontAlgn="auto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Using the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memoized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function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: You can use the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function just like a regular function. The benefit is that the function will only be re-created if the dependencies change, potentially improving performance by avoiding unnecessary re-creations of the function.</a:t>
            </a:r>
          </a:p>
        </p:txBody>
      </p:sp>
    </p:spTree>
    <p:extLst>
      <p:ext uri="{BB962C8B-B14F-4D97-AF65-F5344CB8AC3E}">
        <p14:creationId xmlns:p14="http://schemas.microsoft.com/office/powerpoint/2010/main" val="2849362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7056DDE-2E68-6B87-28A0-B5F0A70E2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169" y="267460"/>
            <a:ext cx="5795542" cy="462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68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/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82679" y="226828"/>
            <a:ext cx="5862084" cy="4784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In the previous example: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We used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useCallback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to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the increment function, which updates the count state. The function is re-created only when the count dependency changes.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This optimization helps prevent unnecessary re-renders caused by creating a new instance of the increment function on each render.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function is used in the button's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onClick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handler to increment the count.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By using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useCallback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, you can optimize your component's performance by reducing the number of times a function is recreated, especially if the function is passed as a prop to child components or used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useEffect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dependencies.</a:t>
            </a:r>
          </a:p>
        </p:txBody>
      </p:sp>
    </p:spTree>
    <p:extLst>
      <p:ext uri="{BB962C8B-B14F-4D97-AF65-F5344CB8AC3E}">
        <p14:creationId xmlns:p14="http://schemas.microsoft.com/office/powerpoint/2010/main" val="1984377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21822-EDC8-4D53-BE07-880A4D8F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AB1512BB-2B78-7C6A-BED2-2A9402930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4C5931A-A840-046F-01CC-9CF8D8F20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0"/>
            <a:ext cx="9169464" cy="515105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4B190BB-A382-E998-A9BA-FD9E8F7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2"/>
            <a:ext cx="8829202" cy="515105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B71E01B-F02A-7520-A764-A7809B51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515105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26EA525-2B2A-827E-8F93-080E43971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2"/>
            <a:ext cx="9175185" cy="515105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556DD62-F653-CC5F-40E6-B1C3F35FC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363251" y="-646368"/>
            <a:ext cx="5146448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FD4D1C9-DA3B-1ADC-C1EE-8A40AB05E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890229" y="816787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F61BD-28F7-021A-352D-DE38B6A23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614238"/>
            <a:ext cx="5036024" cy="23840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useMemo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C6E3699-318C-F5FA-846D-EA778D50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3367582"/>
            <a:ext cx="9163282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46821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 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useMemo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509" y="1413959"/>
            <a:ext cx="8508868" cy="3508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b="1" kern="1200" dirty="0" err="1">
                <a:solidFill>
                  <a:schemeClr val="tx1"/>
                </a:solidFill>
              </a:rPr>
              <a:t>useMemo</a:t>
            </a:r>
            <a:r>
              <a:rPr lang="en-US" sz="1800" b="1" kern="1200" dirty="0">
                <a:solidFill>
                  <a:schemeClr val="tx1"/>
                </a:solidFill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a React Hook that helps improve performance by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(caching) expensive computations.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Memoization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means storing the result of a function call and reusing it when the function's inputs (dependencies) haven't changed.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Think of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as caching a value so that it does not need to be recalculated.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 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useMemo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Hook only runs when one of its dependencies update. This can improve performance.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 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useMemo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and 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useCallback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Hooks are similar.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main difference is that 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useMemo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returns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value and 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useCallback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returns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memoized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function.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27882C-D904-BABB-7DDE-09709EB21682}"/>
              </a:ext>
            </a:extLst>
          </p:cNvPr>
          <p:cNvSpPr txBox="1"/>
          <p:nvPr/>
        </p:nvSpPr>
        <p:spPr>
          <a:xfrm>
            <a:off x="2367516" y="4614820"/>
            <a:ext cx="6083146" cy="3116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cachedValue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useMemo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dependencies);</a:t>
            </a:r>
          </a:p>
        </p:txBody>
      </p:sp>
    </p:spTree>
    <p:extLst>
      <p:ext uri="{BB962C8B-B14F-4D97-AF65-F5344CB8AC3E}">
        <p14:creationId xmlns:p14="http://schemas.microsoft.com/office/powerpoint/2010/main" val="1072471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1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 useMemo Hook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8564A1-1EB3-859B-25E0-1490EFF03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4" y="125007"/>
            <a:ext cx="4968961" cy="490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88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 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useMemo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512" y="1413959"/>
            <a:ext cx="8643543" cy="3508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We defined a state variable number with an initial value of 5.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We created a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doubledNumber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constant using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useMemo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Inside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useMemo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, we multiplied the number by 2.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Crucially, we specify [number] as the dependency array.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This tells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useMemo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to only recalculate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doubledNumber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 when number changes.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In the component's return statement, we display both the original number and the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doubledNumber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.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Benefit: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When you type a new value in the input, only the number state updates. The multiplication using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useMemo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only happens when number changes, resulting in smoother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95996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55BED-0B73-1A0A-2CA6-CB311DA22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81A1E2-07EC-B53C-7D75-94CC25801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186028"/>
            <a:ext cx="5297791" cy="86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 </a:t>
            </a: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useMemo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Hook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98CD1-E22D-59AA-FDDF-8C560792AE81}"/>
              </a:ext>
            </a:extLst>
          </p:cNvPr>
          <p:cNvSpPr txBox="1"/>
          <p:nvPr/>
        </p:nvSpPr>
        <p:spPr>
          <a:xfrm>
            <a:off x="344512" y="1413959"/>
            <a:ext cx="8643543" cy="3508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B74142-A794-8465-FCBB-B2ECE6643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704154"/>
              </p:ext>
            </p:extLst>
          </p:nvPr>
        </p:nvGraphicFramePr>
        <p:xfrm>
          <a:off x="324168" y="1780712"/>
          <a:ext cx="8495664" cy="272713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822024">
                  <a:extLst>
                    <a:ext uri="{9D8B030D-6E8A-4147-A177-3AD203B41FA5}">
                      <a16:colId xmlns:a16="http://schemas.microsoft.com/office/drawing/2014/main" val="1730455965"/>
                    </a:ext>
                  </a:extLst>
                </a:gridCol>
                <a:gridCol w="2461997">
                  <a:extLst>
                    <a:ext uri="{9D8B030D-6E8A-4147-A177-3AD203B41FA5}">
                      <a16:colId xmlns:a16="http://schemas.microsoft.com/office/drawing/2014/main" val="3931996180"/>
                    </a:ext>
                  </a:extLst>
                </a:gridCol>
                <a:gridCol w="3211643">
                  <a:extLst>
                    <a:ext uri="{9D8B030D-6E8A-4147-A177-3AD203B41FA5}">
                      <a16:colId xmlns:a16="http://schemas.microsoft.com/office/drawing/2014/main" val="3782141879"/>
                    </a:ext>
                  </a:extLst>
                </a:gridCol>
              </a:tblGrid>
              <a:tr h="624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effectLst/>
                        </a:rPr>
                        <a:t>Hook</a:t>
                      </a:r>
                    </a:p>
                  </a:txBody>
                  <a:tcPr marL="142038" marR="142038" marT="71019" marB="71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effectLst/>
                        </a:rPr>
                        <a:t>Returns</a:t>
                      </a:r>
                    </a:p>
                  </a:txBody>
                  <a:tcPr marL="142038" marR="142038" marT="71019" marB="71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effectLst/>
                        </a:rPr>
                        <a:t>Use case</a:t>
                      </a:r>
                    </a:p>
                  </a:txBody>
                  <a:tcPr marL="142038" marR="142038" marT="71019" marB="71019" anchor="ctr"/>
                </a:tc>
                <a:extLst>
                  <a:ext uri="{0D108BD9-81ED-4DB2-BD59-A6C34878D82A}">
                    <a16:rowId xmlns:a16="http://schemas.microsoft.com/office/drawing/2014/main" val="2178020096"/>
                  </a:ext>
                </a:extLst>
              </a:tr>
              <a:tr h="1051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rgbClr val="24292E"/>
                          </a:solidFill>
                          <a:effectLst/>
                        </a:rPr>
                        <a:t>useMemo</a:t>
                      </a:r>
                      <a:endParaRPr lang="en-US" sz="2100">
                        <a:effectLst/>
                      </a:endParaRPr>
                    </a:p>
                  </a:txBody>
                  <a:tcPr marL="142038" marR="142038" marT="71019" marB="71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A memoized value</a:t>
                      </a:r>
                    </a:p>
                  </a:txBody>
                  <a:tcPr marL="142038" marR="142038" marT="71019" marB="71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Cache expensive calculation result</a:t>
                      </a:r>
                    </a:p>
                  </a:txBody>
                  <a:tcPr marL="142038" marR="142038" marT="71019" marB="71019" anchor="ctr"/>
                </a:tc>
                <a:extLst>
                  <a:ext uri="{0D108BD9-81ED-4DB2-BD59-A6C34878D82A}">
                    <a16:rowId xmlns:a16="http://schemas.microsoft.com/office/drawing/2014/main" val="129203044"/>
                  </a:ext>
                </a:extLst>
              </a:tr>
              <a:tr h="1051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rgbClr val="24292E"/>
                          </a:solidFill>
                          <a:effectLst/>
                        </a:rPr>
                        <a:t>useCallback</a:t>
                      </a:r>
                      <a:endParaRPr lang="en-US" sz="2100">
                        <a:effectLst/>
                      </a:endParaRPr>
                    </a:p>
                  </a:txBody>
                  <a:tcPr marL="142038" marR="142038" marT="71019" marB="71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effectLst/>
                        </a:rPr>
                        <a:t>A memoized function</a:t>
                      </a:r>
                    </a:p>
                  </a:txBody>
                  <a:tcPr marL="142038" marR="142038" marT="71019" marB="71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effectLst/>
                        </a:rPr>
                        <a:t>Keep function reference stable</a:t>
                      </a:r>
                    </a:p>
                  </a:txBody>
                  <a:tcPr marL="142038" marR="142038" marT="71019" marB="71019" anchor="ctr"/>
                </a:tc>
                <a:extLst>
                  <a:ext uri="{0D108BD9-81ED-4DB2-BD59-A6C34878D82A}">
                    <a16:rowId xmlns:a16="http://schemas.microsoft.com/office/drawing/2014/main" val="3826248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7596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033A2-567F-0F1C-5EB2-7D43D2EA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1E3E80EB-51CF-450C-9A0D-187F74683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768AB50-FD94-9CE1-C54B-C2DDF5111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0"/>
            <a:ext cx="9169464" cy="515105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E8A8918-001F-877D-D3C8-C593255D7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2"/>
            <a:ext cx="8829202" cy="515105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606D641-4F09-3F45-DC26-5FB720E84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515105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E4AB93C-D89E-5F4A-015C-AA20CBC9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2"/>
            <a:ext cx="9175185" cy="515105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AC7F038-028A-09A1-156C-040B7104A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363251" y="-646368"/>
            <a:ext cx="5146448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BECD2E9-4889-37C6-42E4-81294B1F4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890229" y="816787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1D515-98FE-C403-3A7A-F0672DC4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614238"/>
            <a:ext cx="5036024" cy="23840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 Hooks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E3CDE27-6B56-2139-374C-C2A70B4B0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3367582"/>
            <a:ext cx="9163282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9418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 Custom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512" y="1353879"/>
            <a:ext cx="8537217" cy="3700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-228600" fontAlgn="auto">
              <a:spcBef>
                <a:spcPts val="60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Custom hooks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in React are reusable functions that encapsulate logic and stateful behavior that can be shared across different components. </a:t>
            </a:r>
          </a:p>
          <a:p>
            <a:pPr marL="0" marR="0" lvl="0" indent="-228600" fontAlgn="auto">
              <a:spcBef>
                <a:spcPts val="60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They follow the same rules as regular hooks, such as only being called at the top level of a function component or another custom hook and only being called from React function components or other hooks.</a:t>
            </a:r>
          </a:p>
          <a:p>
            <a:pPr marL="0" marR="0" lvl="0" indent="-228600" fontAlgn="auto">
              <a:spcBef>
                <a:spcPts val="600"/>
              </a:spcBef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Creating a Custom Hook:</a:t>
            </a:r>
          </a:p>
          <a:p>
            <a:pPr marL="342900" lvl="5" indent="-342900">
              <a:spcBef>
                <a:spcPts val="600"/>
              </a:spcBef>
              <a:buFont typeface="+mj-lt"/>
              <a:buAutoNum type="alphaUcPeriod"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Define the hook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: Create a function with the desired logic and name it following the convention of starting with "use" (e.g.,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useFetch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useCounter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useTheme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).</a:t>
            </a:r>
          </a:p>
          <a:p>
            <a:pPr marL="342900" lvl="5" indent="-342900">
              <a:spcBef>
                <a:spcPts val="600"/>
              </a:spcBef>
              <a:buFont typeface="+mj-lt"/>
              <a:buAutoNum type="alphaUcPeriod"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Add the logic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: Inside the hook function, include the state, effects, and any other logic you want to encapsulate.</a:t>
            </a:r>
          </a:p>
          <a:p>
            <a:pPr marL="342900" lvl="5" indent="-342900">
              <a:spcBef>
                <a:spcPts val="600"/>
              </a:spcBef>
              <a:buFont typeface="+mj-lt"/>
              <a:buAutoNum type="alphaUcPeriod"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Return the 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: Return any values or state from the hook so they can be used in other components.</a:t>
            </a:r>
          </a:p>
        </p:txBody>
      </p:sp>
    </p:spTree>
    <p:extLst>
      <p:ext uri="{BB962C8B-B14F-4D97-AF65-F5344CB8AC3E}">
        <p14:creationId xmlns:p14="http://schemas.microsoft.com/office/powerpoint/2010/main" val="14320886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React Custom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513" y="1413959"/>
            <a:ext cx="8523040" cy="3508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auto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In a counter application, you can create a custom hook to manage the counter's state and logic. </a:t>
            </a:r>
          </a:p>
          <a:p>
            <a:pPr marL="0" marR="0" lvl="0" indent="-228600" fontAlgn="auto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The custom hook will handle the state for the counter value and provide functions to increment and decrement the counter.</a:t>
            </a:r>
          </a:p>
          <a:p>
            <a:pPr marL="0" marR="0" lvl="0" indent="-228600" fontAlgn="auto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This hook can then be used in a component that displays the counter and buttons for controlling it.</a:t>
            </a:r>
          </a:p>
          <a:p>
            <a:pPr marL="0" marR="0" lvl="0" indent="-228600" fontAlgn="auto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Here's an example of how you can create a custom hook for the counter and use it in a React component:</a:t>
            </a:r>
          </a:p>
        </p:txBody>
      </p:sp>
    </p:spTree>
    <p:extLst>
      <p:ext uri="{BB962C8B-B14F-4D97-AF65-F5344CB8AC3E}">
        <p14:creationId xmlns:p14="http://schemas.microsoft.com/office/powerpoint/2010/main" val="4077384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79640"/>
            <a:ext cx="2571750" cy="12893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React Custom Hooks Example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3202" y="2105406"/>
            <a:ext cx="2571750" cy="25580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Step 1: Create the Custom Hook (useCounter.js)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First, create a file named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useCounter.jsx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in the hooks folder of your project. In this file, define the custom hook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useCounter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: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D9BEB6-2D46-D0DA-EBA0-C3BF4A485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244" y="480059"/>
            <a:ext cx="5277486" cy="445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274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79640"/>
            <a:ext cx="2571750" cy="12893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React Custom Hooks Example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3202" y="2105406"/>
            <a:ext cx="2571750" cy="25580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Step 2: Use the Custom Hook in a Component 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CounterApp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)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Next, create a component named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CounterApp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and use the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useCounter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rPr>
              <a:t> custom hook in it: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88BEA-F42A-A601-F9DB-4A1D6E67F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586" y="331764"/>
            <a:ext cx="4843212" cy="447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346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995B1-8532-0C1F-81C7-7A06248A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67FF0-4C6B-DEB8-EBC1-C962C967A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186028"/>
            <a:ext cx="5297791" cy="86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Chapter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FBF86-728B-CCA2-9F8E-539D8B38F528}"/>
              </a:ext>
            </a:extLst>
          </p:cNvPr>
          <p:cNvSpPr txBox="1"/>
          <p:nvPr/>
        </p:nvSpPr>
        <p:spPr>
          <a:xfrm>
            <a:off x="344509" y="1413958"/>
            <a:ext cx="8270445" cy="372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3C6DC8-E830-22A3-6617-E10514EA1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327196"/>
              </p:ext>
            </p:extLst>
          </p:nvPr>
        </p:nvGraphicFramePr>
        <p:xfrm>
          <a:off x="303828" y="1709270"/>
          <a:ext cx="8495663" cy="31389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0032">
                  <a:extLst>
                    <a:ext uri="{9D8B030D-6E8A-4147-A177-3AD203B41FA5}">
                      <a16:colId xmlns:a16="http://schemas.microsoft.com/office/drawing/2014/main" val="3889478433"/>
                    </a:ext>
                  </a:extLst>
                </a:gridCol>
                <a:gridCol w="3260652">
                  <a:extLst>
                    <a:ext uri="{9D8B030D-6E8A-4147-A177-3AD203B41FA5}">
                      <a16:colId xmlns:a16="http://schemas.microsoft.com/office/drawing/2014/main" val="83903455"/>
                    </a:ext>
                  </a:extLst>
                </a:gridCol>
                <a:gridCol w="3624979">
                  <a:extLst>
                    <a:ext uri="{9D8B030D-6E8A-4147-A177-3AD203B41FA5}">
                      <a16:colId xmlns:a16="http://schemas.microsoft.com/office/drawing/2014/main" val="986847419"/>
                    </a:ext>
                  </a:extLst>
                </a:gridCol>
              </a:tblGrid>
              <a:tr h="310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Hook / API</a:t>
                      </a: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Main purpose</a:t>
                      </a: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Best real-world use</a:t>
                      </a:r>
                    </a:p>
                  </a:txBody>
                  <a:tcPr marL="70475" marR="70475" marT="35237" marB="35237" anchor="ctr"/>
                </a:tc>
                <a:extLst>
                  <a:ext uri="{0D108BD9-81ED-4DB2-BD59-A6C34878D82A}">
                    <a16:rowId xmlns:a16="http://schemas.microsoft.com/office/drawing/2014/main" val="3160250798"/>
                  </a:ext>
                </a:extLst>
              </a:tr>
              <a:tr h="310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24292E"/>
                          </a:solidFill>
                          <a:effectLst/>
                        </a:rPr>
                        <a:t>useContext</a:t>
                      </a:r>
                      <a:endParaRPr lang="en-US" sz="1600" b="1">
                        <a:effectLst/>
                      </a:endParaRP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Read shared data from context</a:t>
                      </a: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Auth, theme, locale, permissions</a:t>
                      </a:r>
                    </a:p>
                  </a:txBody>
                  <a:tcPr marL="70475" marR="70475" marT="35237" marB="35237" anchor="ctr"/>
                </a:tc>
                <a:extLst>
                  <a:ext uri="{0D108BD9-81ED-4DB2-BD59-A6C34878D82A}">
                    <a16:rowId xmlns:a16="http://schemas.microsoft.com/office/drawing/2014/main" val="4251039268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24292E"/>
                          </a:solidFill>
                          <a:effectLst/>
                        </a:rPr>
                        <a:t>useRef</a:t>
                      </a:r>
                      <a:endParaRPr lang="en-US" sz="1600" b="1">
                        <a:effectLst/>
                      </a:endParaRP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Persist mutable value without re-render</a:t>
                      </a: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DOM access, timers, previous values</a:t>
                      </a:r>
                    </a:p>
                  </a:txBody>
                  <a:tcPr marL="70475" marR="70475" marT="35237" marB="35237" anchor="ctr"/>
                </a:tc>
                <a:extLst>
                  <a:ext uri="{0D108BD9-81ED-4DB2-BD59-A6C34878D82A}">
                    <a16:rowId xmlns:a16="http://schemas.microsoft.com/office/drawing/2014/main" val="1343715804"/>
                  </a:ext>
                </a:extLst>
              </a:tr>
              <a:tr h="310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24292E"/>
                          </a:solidFill>
                          <a:effectLst/>
                        </a:rPr>
                        <a:t>useReducer</a:t>
                      </a:r>
                      <a:endParaRPr lang="en-US" sz="1600" b="1">
                        <a:effectLst/>
                      </a:endParaRP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Manage complex state transitions</a:t>
                      </a: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Cart, forms, task managers, wizards</a:t>
                      </a:r>
                    </a:p>
                  </a:txBody>
                  <a:tcPr marL="70475" marR="70475" marT="35237" marB="35237" anchor="ctr"/>
                </a:tc>
                <a:extLst>
                  <a:ext uri="{0D108BD9-81ED-4DB2-BD59-A6C34878D82A}">
                    <a16:rowId xmlns:a16="http://schemas.microsoft.com/office/drawing/2014/main" val="1853500735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24292E"/>
                          </a:solidFill>
                          <a:effectLst/>
                        </a:rPr>
                        <a:t>useCallback</a:t>
                      </a:r>
                      <a:endParaRPr lang="en-US" sz="1600" b="1">
                        <a:effectLst/>
                      </a:endParaRP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Cache function reference</a:t>
                      </a: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Memoized children, hook dependencies</a:t>
                      </a:r>
                    </a:p>
                  </a:txBody>
                  <a:tcPr marL="70475" marR="70475" marT="35237" marB="35237" anchor="ctr"/>
                </a:tc>
                <a:extLst>
                  <a:ext uri="{0D108BD9-81ED-4DB2-BD59-A6C34878D82A}">
                    <a16:rowId xmlns:a16="http://schemas.microsoft.com/office/drawing/2014/main" val="2650544726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24292E"/>
                          </a:solidFill>
                          <a:effectLst/>
                        </a:rPr>
                        <a:t>useMemo</a:t>
                      </a:r>
                      <a:endParaRPr lang="en-US" sz="1600" b="1">
                        <a:effectLst/>
                      </a:endParaRP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Cache calculated value</a:t>
                      </a: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Expensive filtering/sorting/derived data</a:t>
                      </a:r>
                    </a:p>
                  </a:txBody>
                  <a:tcPr marL="70475" marR="70475" marT="35237" marB="35237" anchor="ctr"/>
                </a:tc>
                <a:extLst>
                  <a:ext uri="{0D108BD9-81ED-4DB2-BD59-A6C34878D82A}">
                    <a16:rowId xmlns:a16="http://schemas.microsoft.com/office/drawing/2014/main" val="2382510970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Custom Hooks</a:t>
                      </a: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Reuse stateful logic</a:t>
                      </a:r>
                    </a:p>
                  </a:txBody>
                  <a:tcPr marL="70475" marR="70475" marT="35237" marB="352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Forms, storage, network status, data flows</a:t>
                      </a:r>
                    </a:p>
                  </a:txBody>
                  <a:tcPr marL="70475" marR="70475" marT="35237" marB="35237" anchor="ctr"/>
                </a:tc>
                <a:extLst>
                  <a:ext uri="{0D108BD9-81ED-4DB2-BD59-A6C34878D82A}">
                    <a16:rowId xmlns:a16="http://schemas.microsoft.com/office/drawing/2014/main" val="408442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1977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759570" y="3656692"/>
            <a:ext cx="5624855" cy="1093693"/>
          </a:xfrm>
          <a:prstGeom prst="rect">
            <a:avLst/>
          </a:prstGeom>
        </p:spPr>
        <p:txBody>
          <a:bodyPr spcFirstLastPara="1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9600" dirty="0">
                <a:solidFill>
                  <a:srgbClr val="092836"/>
                </a:solidFill>
              </a:rPr>
              <a:t>		</a:t>
            </a:r>
            <a:r>
              <a:rPr lang="en-US" sz="9600" b="1" dirty="0">
                <a:solidFill>
                  <a:srgbClr val="092836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3939243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Retrospect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14491</TotalTime>
  <Words>4312</Words>
  <Application>Microsoft Office PowerPoint</Application>
  <PresentationFormat>On-screen Show (16:9)</PresentationFormat>
  <Paragraphs>618</Paragraphs>
  <Slides>42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6" baseType="lpstr">
      <vt:lpstr>Aptos</vt:lpstr>
      <vt:lpstr>Georgia</vt:lpstr>
      <vt:lpstr>Arial</vt:lpstr>
      <vt:lpstr>Consolas</vt:lpstr>
      <vt:lpstr>Univers Condensed</vt:lpstr>
      <vt:lpstr>Aptos (Body)</vt:lpstr>
      <vt:lpstr>Calibri Light</vt:lpstr>
      <vt:lpstr>Calibri</vt:lpstr>
      <vt:lpstr>Wingdings</vt:lpstr>
      <vt:lpstr>Aptos Display</vt:lpstr>
      <vt:lpstr>Calisto MT</vt:lpstr>
      <vt:lpstr>ChronicleVTI</vt:lpstr>
      <vt:lpstr>Office Theme</vt:lpstr>
      <vt:lpstr>1_Retrospect</vt:lpstr>
      <vt:lpstr>CHAPTER 5:</vt:lpstr>
      <vt:lpstr>Outline</vt:lpstr>
      <vt:lpstr>useContext</vt:lpstr>
      <vt:lpstr>React useContext Hook</vt:lpstr>
      <vt:lpstr>Prop drilling</vt:lpstr>
      <vt:lpstr>Example without context</vt:lpstr>
      <vt:lpstr>useContext</vt:lpstr>
      <vt:lpstr>Basic workflow of using useContext in React</vt:lpstr>
      <vt:lpstr>Creating the Context</vt:lpstr>
      <vt:lpstr>Context Provider</vt:lpstr>
      <vt:lpstr>Context Provider</vt:lpstr>
      <vt:lpstr>Use the useContext Hook</vt:lpstr>
      <vt:lpstr>useRef</vt:lpstr>
      <vt:lpstr>React useRef Hook</vt:lpstr>
      <vt:lpstr>Basic syntax</vt:lpstr>
      <vt:lpstr>useRef hook use cases in React applications</vt:lpstr>
      <vt:lpstr>1. Accessing DOM elements:</vt:lpstr>
      <vt:lpstr>PowerPoint Presentation</vt:lpstr>
      <vt:lpstr>2. Storing mutable values</vt:lpstr>
      <vt:lpstr>Example: Count renders without causing re-render</vt:lpstr>
      <vt:lpstr>useReducer</vt:lpstr>
      <vt:lpstr>React useReducer Hook</vt:lpstr>
      <vt:lpstr>React useReducer Hook Example</vt:lpstr>
      <vt:lpstr>Cont…</vt:lpstr>
      <vt:lpstr> When to Choose useReducer Instead of useState</vt:lpstr>
      <vt:lpstr>useCallback</vt:lpstr>
      <vt:lpstr>React useCallback Hook</vt:lpstr>
      <vt:lpstr>React useCallback Hook</vt:lpstr>
      <vt:lpstr>Example</vt:lpstr>
      <vt:lpstr>Cont….</vt:lpstr>
      <vt:lpstr>useMemo</vt:lpstr>
      <vt:lpstr>React useMemo Hook</vt:lpstr>
      <vt:lpstr>React useMemo Hook</vt:lpstr>
      <vt:lpstr>React useMemo Hook</vt:lpstr>
      <vt:lpstr>React useMemo Hook</vt:lpstr>
      <vt:lpstr>Custom Hooks</vt:lpstr>
      <vt:lpstr>React Custom Hooks</vt:lpstr>
      <vt:lpstr>React Custom Hooks</vt:lpstr>
      <vt:lpstr>React Custom Hooks Example</vt:lpstr>
      <vt:lpstr>React Custom Hooks Example</vt:lpstr>
      <vt:lpstr>Chapter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using React js</dc:title>
  <dc:creator>F</dc:creator>
  <cp:lastModifiedBy>Mohamed Abdullahi</cp:lastModifiedBy>
  <cp:revision>874</cp:revision>
  <dcterms:modified xsi:type="dcterms:W3CDTF">2026-05-15T21:15:01Z</dcterms:modified>
</cp:coreProperties>
</file>