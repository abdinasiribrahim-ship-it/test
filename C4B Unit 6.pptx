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7" r:id="rId2"/>
    <p:sldId id="258" r:id="rId3"/>
    <p:sldId id="259" r:id="rId4"/>
    <p:sldId id="261" r:id="rId5"/>
    <p:sldId id="297" r:id="rId6"/>
    <p:sldId id="299" r:id="rId7"/>
    <p:sldId id="285" r:id="rId8"/>
    <p:sldId id="290" r:id="rId9"/>
    <p:sldId id="291" r:id="rId10"/>
    <p:sldId id="292" r:id="rId11"/>
    <p:sldId id="293" r:id="rId12"/>
    <p:sldId id="294" r:id="rId13"/>
    <p:sldId id="298" r:id="rId14"/>
    <p:sldId id="295" r:id="rId15"/>
    <p:sldId id="28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8224" autoAdjust="0"/>
  </p:normalViewPr>
  <p:slideViewPr>
    <p:cSldViewPr>
      <p:cViewPr varScale="1">
        <p:scale>
          <a:sx n="73" d="100"/>
          <a:sy n="73" d="100"/>
        </p:scale>
        <p:origin x="129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014-4FAF-4915-BFEE-CF5B1F56F55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CB6D0-99C6-4E24-8470-F7D26E5C1CB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014-4FAF-4915-BFEE-CF5B1F56F55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CB6D0-99C6-4E24-8470-F7D26E5C1CB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014-4FAF-4915-BFEE-CF5B1F56F55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CB6D0-99C6-4E24-8470-F7D26E5C1C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014-4FAF-4915-BFEE-CF5B1F56F55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CB6D0-99C6-4E24-8470-F7D26E5C1CB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014-4FAF-4915-BFEE-CF5B1F56F55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CB6D0-99C6-4E24-8470-F7D26E5C1CB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014-4FAF-4915-BFEE-CF5B1F56F55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CB6D0-99C6-4E24-8470-F7D26E5C1C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014-4FAF-4915-BFEE-CF5B1F56F55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CB6D0-99C6-4E24-8470-F7D26E5C1C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014-4FAF-4915-BFEE-CF5B1F56F55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CB6D0-99C6-4E24-8470-F7D26E5C1C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014-4FAF-4915-BFEE-CF5B1F56F55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CB6D0-99C6-4E24-8470-F7D26E5C1CB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014-4FAF-4915-BFEE-CF5B1F56F55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CB6D0-99C6-4E24-8470-F7D26E5C1C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014-4FAF-4915-BFEE-CF5B1F56F55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CB6D0-99C6-4E24-8470-F7D26E5C1C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3732014-4FAF-4915-BFEE-CF5B1F56F55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2CCB6D0-99C6-4E24-8470-F7D26E5C1CB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304800" y="3132290"/>
            <a:ext cx="8000999" cy="1793167"/>
          </a:xfrm>
        </p:spPr>
        <p:txBody>
          <a:bodyPr/>
          <a:lstStyle/>
          <a:p>
            <a:pPr marL="182880" indent="0">
              <a:buNone/>
            </a:pPr>
            <a:r>
              <a:rPr lang="en-US" b="0" dirty="0">
                <a:latin typeface="Arial Black" pitchFamily="34" charset="0"/>
              </a:rPr>
              <a:t>Business </a:t>
            </a:r>
            <a:r>
              <a:rPr lang="en-US" b="0" dirty="0" smtClean="0">
                <a:latin typeface="Arial Black" pitchFamily="34" charset="0"/>
              </a:rPr>
              <a:t>Letters</a:t>
            </a:r>
            <a:endParaRPr lang="en-US" b="0" dirty="0">
              <a:latin typeface="Arial Black" pitchFamily="34" charset="0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533400" y="4419600"/>
            <a:ext cx="8229600" cy="1348255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Unit 6:</a:t>
            </a:r>
            <a:r>
              <a:rPr lang="en-US" sz="3600" dirty="0"/>
              <a:t>Recruitment </a:t>
            </a:r>
            <a:r>
              <a:rPr lang="en-US" sz="3600" dirty="0" smtClean="0"/>
              <a:t>Correspondence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977377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0" y="838200"/>
            <a:ext cx="9144000" cy="60198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2600" b="1" dirty="0"/>
              <a:t>After studying this unit you should be able to</a:t>
            </a:r>
            <a:r>
              <a:rPr lang="en-US" sz="2600" b="1" dirty="0" smtClean="0"/>
              <a:t>:</a:t>
            </a:r>
          </a:p>
          <a:p>
            <a:r>
              <a:rPr lang="en-US" b="1" dirty="0"/>
              <a:t>State all the documents involved in the process of </a:t>
            </a:r>
            <a:r>
              <a:rPr lang="en-US" b="1" dirty="0" smtClean="0"/>
              <a:t>recruiting staff</a:t>
            </a:r>
            <a:endParaRPr lang="en-US" b="1" dirty="0"/>
          </a:p>
          <a:p>
            <a:r>
              <a:rPr lang="en-US" b="1" dirty="0" smtClean="0"/>
              <a:t>Compose </a:t>
            </a:r>
            <a:r>
              <a:rPr lang="en-US" b="1" dirty="0"/>
              <a:t>realistic business documents that may be used in </a:t>
            </a:r>
            <a:r>
              <a:rPr lang="en-US" b="1" dirty="0" smtClean="0"/>
              <a:t>the recruitment </a:t>
            </a:r>
            <a:r>
              <a:rPr lang="en-US" b="1" dirty="0"/>
              <a:t>process:</a:t>
            </a:r>
          </a:p>
          <a:p>
            <a:pPr lvl="2">
              <a:buFont typeface="Wingdings" pitchFamily="2" charset="2"/>
              <a:buChar char="Ø"/>
            </a:pPr>
            <a:r>
              <a:rPr lang="en-US" sz="2200" b="1" dirty="0"/>
              <a:t>Application letter</a:t>
            </a:r>
          </a:p>
          <a:p>
            <a:pPr lvl="2">
              <a:buFont typeface="Wingdings" pitchFamily="2" charset="2"/>
              <a:buChar char="Ø"/>
            </a:pPr>
            <a:r>
              <a:rPr lang="en-US" sz="2200" b="1" dirty="0"/>
              <a:t>CV</a:t>
            </a:r>
          </a:p>
          <a:p>
            <a:pPr lvl="2">
              <a:buFont typeface="Wingdings" pitchFamily="2" charset="2"/>
              <a:buChar char="Ø"/>
            </a:pPr>
            <a:r>
              <a:rPr lang="en-US" sz="2200" b="1" dirty="0"/>
              <a:t>Invitation to interview</a:t>
            </a:r>
          </a:p>
          <a:p>
            <a:pPr lvl="2">
              <a:buFont typeface="Wingdings" pitchFamily="2" charset="2"/>
              <a:buChar char="Ø"/>
            </a:pPr>
            <a:r>
              <a:rPr lang="en-US" sz="2200" b="1" dirty="0"/>
              <a:t>References</a:t>
            </a:r>
          </a:p>
          <a:p>
            <a:pPr lvl="2">
              <a:buFont typeface="Wingdings" pitchFamily="2" charset="2"/>
              <a:buChar char="Ø"/>
            </a:pPr>
            <a:r>
              <a:rPr lang="en-US" sz="2200" b="1" dirty="0"/>
              <a:t>Testimonials</a:t>
            </a:r>
          </a:p>
          <a:p>
            <a:pPr lvl="2">
              <a:buFont typeface="Wingdings" pitchFamily="2" charset="2"/>
              <a:buChar char="Ø"/>
            </a:pPr>
            <a:r>
              <a:rPr lang="en-US" sz="2200" b="1" dirty="0"/>
              <a:t>Offer of employment</a:t>
            </a:r>
          </a:p>
          <a:p>
            <a:pPr lvl="2">
              <a:buFont typeface="Wingdings" pitchFamily="2" charset="2"/>
              <a:buChar char="Ø"/>
            </a:pPr>
            <a:r>
              <a:rPr lang="en-US" sz="2200" b="1" dirty="0"/>
              <a:t>Job description</a:t>
            </a:r>
          </a:p>
          <a:p>
            <a:pPr lvl="2">
              <a:buFont typeface="Wingdings" pitchFamily="2" charset="2"/>
              <a:buChar char="Ø"/>
            </a:pPr>
            <a:r>
              <a:rPr lang="en-US" sz="2200" b="1" dirty="0"/>
              <a:t>Letter of acceptance</a:t>
            </a:r>
          </a:p>
          <a:p>
            <a:pPr lvl="2">
              <a:buFont typeface="Wingdings" pitchFamily="2" charset="2"/>
              <a:buChar char="Ø"/>
            </a:pPr>
            <a:r>
              <a:rPr lang="en-US" sz="2200" b="1" dirty="0"/>
              <a:t>Letter of resignation</a:t>
            </a:r>
            <a:endParaRPr lang="en-US" sz="22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3289" y="152400"/>
            <a:ext cx="6512511" cy="11430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Learning Objectives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554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0" y="1066800"/>
            <a:ext cx="9144000" cy="5791200"/>
          </a:xfrm>
        </p:spPr>
        <p:txBody>
          <a:bodyPr>
            <a:normAutofit/>
          </a:bodyPr>
          <a:lstStyle/>
          <a:p>
            <a:r>
              <a:rPr lang="en-US" sz="2800" dirty="0"/>
              <a:t>Various letters and documents are involved in the </a:t>
            </a:r>
            <a:r>
              <a:rPr lang="en-US" sz="2800" dirty="0" smtClean="0"/>
              <a:t>process of </a:t>
            </a:r>
            <a:r>
              <a:rPr lang="en-US" sz="2800" dirty="0"/>
              <a:t>applying for a job</a:t>
            </a:r>
            <a:r>
              <a:rPr lang="en-US" sz="2800" dirty="0" smtClean="0"/>
              <a:t>.</a:t>
            </a:r>
            <a:endParaRPr lang="en-US" sz="2800" b="1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763000" cy="762000"/>
          </a:xfrm>
        </p:spPr>
        <p:txBody>
          <a:bodyPr/>
          <a:lstStyle/>
          <a:p>
            <a:pPr marL="0" indent="0" algn="l">
              <a:buNone/>
            </a:pPr>
            <a:r>
              <a:rPr lang="en-US" sz="3600" dirty="0"/>
              <a:t>THE RECRUITMENT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2200870"/>
            <a:ext cx="3248004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noFill/>
                  <a:prstDash val="solid"/>
                </a:ln>
                <a:solidFill>
                  <a:srgbClr val="C00000"/>
                </a:solidFill>
                <a:effectLst/>
              </a:rPr>
              <a:t>Applicant</a:t>
            </a:r>
            <a:endParaRPr lang="en-US" sz="5400" b="1" cap="none" spc="0" dirty="0">
              <a:ln w="10541" cmpd="sng">
                <a:noFill/>
                <a:prstDash val="solid"/>
              </a:ln>
              <a:solidFill>
                <a:srgbClr val="C00000"/>
              </a:solidFill>
              <a:effectLst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34000" y="2200870"/>
            <a:ext cx="3236784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0541" cmpd="sng">
                  <a:noFill/>
                  <a:prstDash val="solid"/>
                </a:ln>
                <a:solidFill>
                  <a:schemeClr val="accent1"/>
                </a:solidFill>
              </a:rPr>
              <a:t>Employer</a:t>
            </a:r>
            <a:endParaRPr lang="en-US" sz="5400" b="1" cap="none" spc="0" dirty="0">
              <a:ln w="10541" cmpd="sng">
                <a:noFill/>
                <a:prstDash val="solid"/>
              </a:ln>
              <a:solidFill>
                <a:schemeClr val="accent1"/>
              </a:solidFill>
              <a:effectLst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3657600" y="2327857"/>
            <a:ext cx="1628796" cy="304800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 rot="10800000">
            <a:off x="3581400" y="2667000"/>
            <a:ext cx="1628796" cy="3048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28600" y="3581400"/>
            <a:ext cx="4343399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Letter to referee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Letter of resignation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Curriculum vitae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Offer of employment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Invitation to interview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Reference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4800600" y="3581400"/>
            <a:ext cx="4081567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Job description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Letter of </a:t>
            </a:r>
            <a:r>
              <a:rPr lang="en-US" sz="2400" dirty="0" smtClean="0"/>
              <a:t>rejection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Testimonial </a:t>
            </a:r>
            <a:endParaRPr lang="en-US" sz="24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Letter of acceptance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Letter of application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Contract </a:t>
            </a:r>
            <a:r>
              <a:rPr lang="en-US" sz="2400" dirty="0"/>
              <a:t>of employment</a:t>
            </a:r>
          </a:p>
        </p:txBody>
      </p:sp>
    </p:spTree>
    <p:extLst>
      <p:ext uri="{BB962C8B-B14F-4D97-AF65-F5344CB8AC3E}">
        <p14:creationId xmlns:p14="http://schemas.microsoft.com/office/powerpoint/2010/main" val="97665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0" y="762000"/>
            <a:ext cx="3581400" cy="6019800"/>
          </a:xfrm>
        </p:spPr>
        <p:txBody>
          <a:bodyPr>
            <a:normAutofit/>
          </a:bodyPr>
          <a:lstStyle/>
          <a:p>
            <a:r>
              <a:rPr lang="en-US" sz="2800" dirty="0"/>
              <a:t>Keep your application </a:t>
            </a:r>
            <a:r>
              <a:rPr lang="en-US" sz="2800" dirty="0" smtClean="0"/>
              <a:t>letter </a:t>
            </a:r>
            <a:r>
              <a:rPr lang="en-US" sz="2800" b="1" dirty="0" smtClean="0"/>
              <a:t>short</a:t>
            </a:r>
            <a:r>
              <a:rPr lang="en-US" sz="2800" dirty="0" smtClean="0"/>
              <a:t> &amp; </a:t>
            </a:r>
            <a:r>
              <a:rPr lang="en-US" sz="2800" b="1" dirty="0" smtClean="0"/>
              <a:t>concise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Don’t forget your </a:t>
            </a:r>
            <a:r>
              <a:rPr lang="en-US" sz="2800" b="1" dirty="0" smtClean="0"/>
              <a:t>personal address.</a:t>
            </a:r>
          </a:p>
          <a:p>
            <a:r>
              <a:rPr lang="en-US" sz="2800" dirty="0" smtClean="0"/>
              <a:t>Address to person named.</a:t>
            </a:r>
          </a:p>
          <a:p>
            <a:r>
              <a:rPr lang="en-US" sz="2800" dirty="0" smtClean="0"/>
              <a:t>Use the job title as subject.</a:t>
            </a:r>
          </a:p>
          <a:p>
            <a:r>
              <a:rPr lang="en-US" sz="2800" dirty="0" smtClean="0"/>
              <a:t>Give brief details.</a:t>
            </a:r>
          </a:p>
          <a:p>
            <a:r>
              <a:rPr lang="en-US" sz="2800" dirty="0" smtClean="0"/>
              <a:t>Enclose your </a:t>
            </a:r>
            <a:r>
              <a:rPr lang="en-US" sz="2800" b="1" dirty="0" smtClean="0"/>
              <a:t>CV</a:t>
            </a:r>
            <a:r>
              <a:rPr lang="en-US" sz="2800" dirty="0" smtClean="0"/>
              <a:t>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4191000" cy="685800"/>
          </a:xfrm>
        </p:spPr>
        <p:txBody>
          <a:bodyPr/>
          <a:lstStyle/>
          <a:p>
            <a:pPr marL="0" indent="0" algn="l">
              <a:buNone/>
            </a:pPr>
            <a:r>
              <a:rPr lang="en-US" sz="3000" dirty="0">
                <a:solidFill>
                  <a:srgbClr val="C00000"/>
                </a:solidFill>
              </a:rPr>
              <a:t>APPLICATION </a:t>
            </a:r>
            <a:r>
              <a:rPr lang="en-US" sz="3000" dirty="0" smtClean="0">
                <a:solidFill>
                  <a:srgbClr val="C00000"/>
                </a:solidFill>
              </a:rPr>
              <a:t>LETTER</a:t>
            </a:r>
            <a:endParaRPr lang="en-US" sz="3000" dirty="0">
              <a:solidFill>
                <a:srgbClr val="C00000"/>
              </a:solidFill>
            </a:endParaRPr>
          </a:p>
        </p:txBody>
      </p:sp>
      <p:pic>
        <p:nvPicPr>
          <p:cNvPr id="1026" name="Picture 2" descr="C:\Users\UST\Desktop\ApLt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98120"/>
            <a:ext cx="5113415" cy="6583680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1698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810000" y="597795"/>
            <a:ext cx="5105400" cy="6019800"/>
          </a:xfr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45720" indent="0">
              <a:lnSpc>
                <a:spcPct val="250000"/>
              </a:lnSpc>
              <a:buNone/>
            </a:pPr>
            <a:r>
              <a:rPr lang="en-US" sz="2400" b="1" dirty="0" smtClean="0"/>
              <a:t>Personal details</a:t>
            </a:r>
          </a:p>
          <a:p>
            <a:pPr marL="45720" indent="0">
              <a:lnSpc>
                <a:spcPct val="250000"/>
              </a:lnSpc>
              <a:buNone/>
            </a:pPr>
            <a:r>
              <a:rPr lang="en-US" sz="2400" b="1" dirty="0"/>
              <a:t>E</a:t>
            </a:r>
            <a:r>
              <a:rPr lang="en-US" sz="2400" b="1" dirty="0" smtClean="0"/>
              <a:t>ducation </a:t>
            </a:r>
          </a:p>
          <a:p>
            <a:pPr marL="45720" indent="0">
              <a:lnSpc>
                <a:spcPct val="250000"/>
              </a:lnSpc>
              <a:buNone/>
            </a:pPr>
            <a:r>
              <a:rPr lang="en-US" sz="2400" b="1" dirty="0" smtClean="0"/>
              <a:t>Qualifications </a:t>
            </a:r>
          </a:p>
          <a:p>
            <a:pPr marL="45720" indent="0">
              <a:lnSpc>
                <a:spcPct val="250000"/>
              </a:lnSpc>
              <a:buNone/>
            </a:pPr>
            <a:r>
              <a:rPr lang="en-US" sz="2400" b="1" dirty="0" smtClean="0"/>
              <a:t>Working experience</a:t>
            </a:r>
          </a:p>
          <a:p>
            <a:pPr marL="45720" indent="0">
              <a:lnSpc>
                <a:spcPct val="250000"/>
              </a:lnSpc>
              <a:buNone/>
            </a:pPr>
            <a:r>
              <a:rPr lang="en-US" sz="2400" b="1" dirty="0" smtClean="0"/>
              <a:t>Additional Information</a:t>
            </a:r>
          </a:p>
          <a:p>
            <a:pPr marL="45720" indent="0">
              <a:lnSpc>
                <a:spcPct val="250000"/>
              </a:lnSpc>
              <a:buNone/>
            </a:pPr>
            <a:r>
              <a:rPr lang="en-US" sz="2400" b="1" dirty="0" smtClean="0"/>
              <a:t>Reference  </a:t>
            </a:r>
            <a:endParaRPr lang="en-US" sz="2800" b="1" dirty="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52600" y="0"/>
            <a:ext cx="4191000" cy="685800"/>
          </a:xfrm>
        </p:spPr>
        <p:txBody>
          <a:bodyPr/>
          <a:lstStyle/>
          <a:p>
            <a:pPr marL="0" indent="0" algn="l">
              <a:buNone/>
            </a:pPr>
            <a:r>
              <a:rPr lang="en-US" sz="3200" dirty="0">
                <a:solidFill>
                  <a:srgbClr val="C00000"/>
                </a:solidFill>
              </a:rPr>
              <a:t>CURRICULUM VITAE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52400" y="762000"/>
            <a:ext cx="3276600" cy="6019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2296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9728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89888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64208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6596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8600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87752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Curriculum vitae is Latin, meaning ‘</a:t>
            </a:r>
            <a:r>
              <a:rPr lang="en-US" sz="2400" b="1" dirty="0" smtClean="0"/>
              <a:t>the course of one’s life</a:t>
            </a:r>
            <a:r>
              <a:rPr lang="en-US" sz="2400" dirty="0" smtClean="0"/>
              <a:t>’.</a:t>
            </a:r>
          </a:p>
          <a:p>
            <a:r>
              <a:rPr lang="en-US" sz="2800" dirty="0" err="1" smtClean="0"/>
              <a:t>Organise</a:t>
            </a:r>
            <a:r>
              <a:rPr lang="en-US" sz="2800" dirty="0" smtClean="0"/>
              <a:t> all the information logically (chronological order) under headings and use columns where appropriate.</a:t>
            </a:r>
          </a:p>
          <a:p>
            <a:r>
              <a:rPr lang="en-US" sz="2800" dirty="0" smtClean="0"/>
              <a:t>Use professional </a:t>
            </a:r>
            <a:r>
              <a:rPr lang="en-US" sz="2800" dirty="0"/>
              <a:t>Reference, </a:t>
            </a:r>
            <a:r>
              <a:rPr lang="en-US" sz="2800" dirty="0" smtClean="0"/>
              <a:t>e.g. teacher, boss, etc. </a:t>
            </a:r>
          </a:p>
        </p:txBody>
      </p:sp>
    </p:spTree>
    <p:extLst>
      <p:ext uri="{BB962C8B-B14F-4D97-AF65-F5344CB8AC3E}">
        <p14:creationId xmlns:p14="http://schemas.microsoft.com/office/powerpoint/2010/main" val="1967571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219200" y="597794"/>
            <a:ext cx="7772400" cy="6184005"/>
          </a:xfr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marL="45720" indent="0">
              <a:buNone/>
            </a:pPr>
            <a:r>
              <a:rPr lang="en-US" sz="2400" b="1" dirty="0" smtClean="0"/>
              <a:t>1. PERSONAL ASSISTANT to the President of JUST</a:t>
            </a:r>
            <a:endParaRPr lang="en-US" sz="2400" b="1" dirty="0"/>
          </a:p>
          <a:p>
            <a:r>
              <a:rPr lang="en-US" sz="2600" dirty="0"/>
              <a:t>Applicants should be suitably qualified, experienced and computer literate</a:t>
            </a:r>
            <a:r>
              <a:rPr lang="en-US" sz="2600" dirty="0" smtClean="0"/>
              <a:t>.</a:t>
            </a:r>
            <a:endParaRPr lang="en-US" sz="2600" b="1" dirty="0"/>
          </a:p>
          <a:p>
            <a:pPr marL="45720" indent="0">
              <a:buNone/>
            </a:pPr>
            <a:r>
              <a:rPr lang="en-US" sz="2800" b="1" dirty="0" smtClean="0"/>
              <a:t>2. IT ASSISTANT at JUST</a:t>
            </a:r>
            <a:endParaRPr lang="en-US" sz="2800" b="1" dirty="0"/>
          </a:p>
          <a:p>
            <a:r>
              <a:rPr lang="en-US" sz="2800" dirty="0"/>
              <a:t>Applicants must have relevant experience to join the IT team </a:t>
            </a:r>
            <a:r>
              <a:rPr lang="en-US" sz="2800" dirty="0" smtClean="0"/>
              <a:t>which provides </a:t>
            </a:r>
            <a:r>
              <a:rPr lang="en-US" sz="2800" dirty="0"/>
              <a:t>IT support to </a:t>
            </a:r>
            <a:r>
              <a:rPr lang="en-US" sz="2800" dirty="0" smtClean="0"/>
              <a:t>100 </a:t>
            </a:r>
            <a:r>
              <a:rPr lang="en-US" sz="2800" dirty="0"/>
              <a:t>technical and administrative </a:t>
            </a:r>
            <a:r>
              <a:rPr lang="en-US" sz="2800" dirty="0" smtClean="0"/>
              <a:t>staff and 5 Computer Labs.</a:t>
            </a:r>
          </a:p>
          <a:p>
            <a:r>
              <a:rPr lang="en-US" sz="2600" b="1" dirty="0" smtClean="0"/>
              <a:t>Application letters </a:t>
            </a:r>
            <a:r>
              <a:rPr lang="en-US" sz="2600" b="1" dirty="0"/>
              <a:t>with full CV should be sent to:</a:t>
            </a:r>
          </a:p>
          <a:p>
            <a:pPr marL="640080" lvl="2" indent="0">
              <a:buNone/>
            </a:pPr>
            <a:r>
              <a:rPr lang="en-US" sz="2200" b="1" dirty="0" smtClean="0"/>
              <a:t>Mahdi Mohamed Omar</a:t>
            </a:r>
            <a:endParaRPr lang="en-US" sz="2200" b="1" dirty="0" smtClean="0"/>
          </a:p>
          <a:p>
            <a:pPr marL="640080" lvl="2" indent="0">
              <a:buNone/>
            </a:pPr>
            <a:r>
              <a:rPr lang="en-US" sz="2200" dirty="0" smtClean="0"/>
              <a:t>Lecturer in Communication Skills, JUST</a:t>
            </a:r>
          </a:p>
          <a:p>
            <a:pPr marL="640080" lvl="2" indent="0">
              <a:buNone/>
            </a:pPr>
            <a:r>
              <a:rPr lang="en-US" sz="2200" dirty="0" err="1"/>
              <a:t>Digfeer</a:t>
            </a:r>
            <a:r>
              <a:rPr lang="en-US" sz="2200" dirty="0"/>
              <a:t> Campus</a:t>
            </a:r>
          </a:p>
          <a:p>
            <a:pPr marL="640080" lvl="2" indent="0">
              <a:buNone/>
            </a:pPr>
            <a:r>
              <a:rPr lang="en-US" sz="2200" dirty="0" err="1" smtClean="0"/>
              <a:t>Benadir-Digfer</a:t>
            </a:r>
            <a:r>
              <a:rPr lang="en-US" sz="2200" dirty="0" smtClean="0"/>
              <a:t> Road</a:t>
            </a:r>
          </a:p>
          <a:p>
            <a:pPr marL="640080" lvl="2" indent="0">
              <a:buNone/>
            </a:pPr>
            <a:r>
              <a:rPr lang="en-US" sz="2200" dirty="0" smtClean="0"/>
              <a:t>Mogadishu - Somalia</a:t>
            </a:r>
          </a:p>
          <a:p>
            <a:pPr marL="45720" indent="0">
              <a:buNone/>
            </a:pPr>
            <a:endParaRPr lang="en-US" sz="2800" b="1" dirty="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52600" y="0"/>
            <a:ext cx="4191000" cy="685800"/>
          </a:xfrm>
        </p:spPr>
        <p:txBody>
          <a:bodyPr/>
          <a:lstStyle/>
          <a:p>
            <a:pPr marL="0" indent="0" algn="l">
              <a:buNone/>
            </a:pPr>
            <a:r>
              <a:rPr lang="en-US" sz="3200" dirty="0" smtClean="0">
                <a:solidFill>
                  <a:srgbClr val="C00000"/>
                </a:solidFill>
              </a:rPr>
              <a:t>Class Activity</a:t>
            </a:r>
            <a:endParaRPr lang="en-US" sz="3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409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0" y="762000"/>
            <a:ext cx="3733800" cy="5943600"/>
          </a:xfrm>
        </p:spPr>
        <p:txBody>
          <a:bodyPr>
            <a:normAutofit fontScale="85000" lnSpcReduction="10000"/>
          </a:bodyPr>
          <a:lstStyle/>
          <a:p>
            <a:r>
              <a:rPr lang="en-US" sz="3200" dirty="0"/>
              <a:t>A letter inviting shortlisted applicants to attend </a:t>
            </a:r>
            <a:r>
              <a:rPr lang="en-US" sz="3200" dirty="0" smtClean="0"/>
              <a:t>an interview </a:t>
            </a:r>
            <a:r>
              <a:rPr lang="en-US" sz="3200" dirty="0"/>
              <a:t>should be </a:t>
            </a:r>
            <a:r>
              <a:rPr lang="en-US" sz="3200" dirty="0" smtClean="0"/>
              <a:t>short</a:t>
            </a:r>
            <a:r>
              <a:rPr lang="en-US" sz="3200" dirty="0"/>
              <a:t>.</a:t>
            </a:r>
          </a:p>
          <a:p>
            <a:r>
              <a:rPr lang="en-US" sz="3200" dirty="0" smtClean="0"/>
              <a:t>Thank </a:t>
            </a:r>
            <a:r>
              <a:rPr lang="en-US" sz="3200" dirty="0"/>
              <a:t>the person for his/her </a:t>
            </a:r>
            <a:r>
              <a:rPr lang="en-US" sz="3200" dirty="0" smtClean="0"/>
              <a:t>application.</a:t>
            </a:r>
          </a:p>
          <a:p>
            <a:r>
              <a:rPr lang="en-US" sz="3200" dirty="0" smtClean="0"/>
              <a:t>Give </a:t>
            </a:r>
            <a:r>
              <a:rPr lang="en-US" sz="3200" dirty="0"/>
              <a:t>a </a:t>
            </a:r>
            <a:r>
              <a:rPr lang="en-US" sz="3200" b="1" dirty="0"/>
              <a:t>day/date/time</a:t>
            </a:r>
            <a:r>
              <a:rPr lang="en-US" sz="3200" dirty="0"/>
              <a:t> </a:t>
            </a:r>
            <a:r>
              <a:rPr lang="en-US" sz="3200" dirty="0" smtClean="0"/>
              <a:t>for the </a:t>
            </a:r>
            <a:r>
              <a:rPr lang="en-US" sz="3200" dirty="0"/>
              <a:t>interview</a:t>
            </a:r>
            <a:r>
              <a:rPr lang="en-US" sz="3200" dirty="0" smtClean="0"/>
              <a:t>.</a:t>
            </a:r>
          </a:p>
          <a:p>
            <a:r>
              <a:rPr lang="en-US" sz="3200" dirty="0" smtClean="0"/>
              <a:t>Suggest how alternative arrangements can be made. </a:t>
            </a:r>
            <a:endParaRPr lang="en-US" sz="32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38637"/>
            <a:ext cx="8458199" cy="838200"/>
          </a:xfrm>
        </p:spPr>
        <p:txBody>
          <a:bodyPr/>
          <a:lstStyle/>
          <a:p>
            <a:pPr marL="0" indent="0" algn="l">
              <a:buNone/>
            </a:pPr>
            <a:r>
              <a:rPr lang="en-US" sz="3200" dirty="0">
                <a:solidFill>
                  <a:srgbClr val="C00000"/>
                </a:solidFill>
              </a:rPr>
              <a:t>INVITATION TO INTERVIEW</a:t>
            </a:r>
          </a:p>
        </p:txBody>
      </p:sp>
      <p:pic>
        <p:nvPicPr>
          <p:cNvPr id="2050" name="Picture 2" descr="C:\Users\UST\Desktop\InLtr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86"/>
          <a:stretch/>
        </p:blipFill>
        <p:spPr bwMode="auto">
          <a:xfrm>
            <a:off x="3733800" y="444321"/>
            <a:ext cx="5330995" cy="6400800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9365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-165279" y="761999"/>
            <a:ext cx="4038600" cy="6094927"/>
          </a:xfrm>
        </p:spPr>
        <p:txBody>
          <a:bodyPr>
            <a:normAutofit/>
          </a:bodyPr>
          <a:lstStyle/>
          <a:p>
            <a:r>
              <a:rPr lang="en-US" sz="2800" dirty="0" smtClean="0"/>
              <a:t>Companies telephone </a:t>
            </a:r>
            <a:r>
              <a:rPr lang="en-US" sz="2800" dirty="0"/>
              <a:t>or write to referees </a:t>
            </a:r>
            <a:r>
              <a:rPr lang="en-US" sz="2800" dirty="0" smtClean="0"/>
              <a:t>asking: the </a:t>
            </a:r>
            <a:r>
              <a:rPr lang="en-US" sz="2800" b="1" dirty="0"/>
              <a:t>character</a:t>
            </a:r>
            <a:r>
              <a:rPr lang="en-US" sz="2800" dirty="0"/>
              <a:t>, </a:t>
            </a:r>
            <a:r>
              <a:rPr lang="en-US" sz="2800" dirty="0" smtClean="0"/>
              <a:t>personal </a:t>
            </a:r>
            <a:r>
              <a:rPr lang="en-US" sz="2800" b="1" dirty="0" smtClean="0"/>
              <a:t>qualities</a:t>
            </a:r>
            <a:r>
              <a:rPr lang="en-US" sz="2800" dirty="0" smtClean="0"/>
              <a:t> &amp; work </a:t>
            </a:r>
            <a:r>
              <a:rPr lang="en-US" sz="2800" b="1" dirty="0"/>
              <a:t>performance</a:t>
            </a:r>
            <a:r>
              <a:rPr lang="en-US" sz="2800" dirty="0"/>
              <a:t> of the </a:t>
            </a:r>
            <a:r>
              <a:rPr lang="en-US" sz="2800" dirty="0" smtClean="0"/>
              <a:t>person they want to offer the job.</a:t>
            </a:r>
          </a:p>
          <a:p>
            <a:r>
              <a:rPr lang="en-US" sz="2800" dirty="0" smtClean="0"/>
              <a:t>In this letter, state the information you require.</a:t>
            </a:r>
          </a:p>
          <a:p>
            <a:r>
              <a:rPr lang="en-US" sz="2800" dirty="0" smtClean="0"/>
              <a:t>Ensure confidentiality.</a:t>
            </a:r>
            <a:endParaRPr lang="en-US" sz="32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458199" cy="838200"/>
          </a:xfrm>
        </p:spPr>
        <p:txBody>
          <a:bodyPr/>
          <a:lstStyle/>
          <a:p>
            <a:pPr marL="0" indent="0" algn="l">
              <a:buNone/>
            </a:pPr>
            <a:r>
              <a:rPr lang="en-US" sz="3600" dirty="0">
                <a:solidFill>
                  <a:srgbClr val="C00000"/>
                </a:solidFill>
              </a:rPr>
              <a:t>REFERENCES</a:t>
            </a:r>
          </a:p>
        </p:txBody>
      </p:sp>
      <p:pic>
        <p:nvPicPr>
          <p:cNvPr id="3074" name="Picture 2" descr="C:\Users\UST\Desktop\RefLt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52803"/>
            <a:ext cx="5375598" cy="6766560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6283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-76200" y="762000"/>
            <a:ext cx="3810000" cy="59436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Inform your referees whenever  you apply a post.</a:t>
            </a:r>
          </a:p>
          <a:p>
            <a:r>
              <a:rPr lang="en-US" sz="3200" dirty="0" smtClean="0"/>
              <a:t>It’s better to give your referee your updated CV.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458199" cy="838200"/>
          </a:xfrm>
        </p:spPr>
        <p:txBody>
          <a:bodyPr/>
          <a:lstStyle/>
          <a:p>
            <a:pPr marL="0" indent="0" algn="l">
              <a:buNone/>
            </a:pPr>
            <a:r>
              <a:rPr lang="en-US" sz="3200" dirty="0">
                <a:solidFill>
                  <a:srgbClr val="C00000"/>
                </a:solidFill>
              </a:rPr>
              <a:t>REFERENCES</a:t>
            </a:r>
          </a:p>
        </p:txBody>
      </p:sp>
      <p:pic>
        <p:nvPicPr>
          <p:cNvPr id="6" name="Picture 5" descr="C:\Users\UST\Desktop\RefLtr1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7843" y="317679"/>
            <a:ext cx="5557520" cy="6400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94519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-76200" y="762000"/>
            <a:ext cx="4267200" cy="5943600"/>
          </a:xfrm>
        </p:spPr>
        <p:txBody>
          <a:bodyPr>
            <a:normAutofit fontScale="85000" lnSpcReduction="20000"/>
          </a:bodyPr>
          <a:lstStyle/>
          <a:p>
            <a:r>
              <a:rPr lang="en-US" sz="3200" dirty="0" smtClean="0"/>
              <a:t>After final decision, a </a:t>
            </a:r>
            <a:r>
              <a:rPr lang="en-US" sz="3200" dirty="0"/>
              <a:t>formal offer </a:t>
            </a:r>
            <a:r>
              <a:rPr lang="en-US" sz="3200" dirty="0" smtClean="0"/>
              <a:t>of employment </a:t>
            </a:r>
            <a:r>
              <a:rPr lang="en-US" sz="3200" dirty="0"/>
              <a:t>will be sent </a:t>
            </a:r>
            <a:r>
              <a:rPr lang="en-US" sz="3200" dirty="0" smtClean="0"/>
              <a:t>to </a:t>
            </a:r>
            <a:r>
              <a:rPr lang="en-US" sz="3200" dirty="0"/>
              <a:t>the successful applicant</a:t>
            </a:r>
            <a:r>
              <a:rPr lang="en-US" sz="3200" dirty="0" smtClean="0"/>
              <a:t>.</a:t>
            </a:r>
          </a:p>
          <a:p>
            <a:r>
              <a:rPr lang="en-US" sz="3200" dirty="0" smtClean="0"/>
              <a:t>Offer the job &amp; state starting date.</a:t>
            </a:r>
          </a:p>
          <a:p>
            <a:r>
              <a:rPr lang="en-US" sz="3200" dirty="0" smtClean="0"/>
              <a:t>Enclose job description &amp; contract.</a:t>
            </a:r>
          </a:p>
          <a:p>
            <a:r>
              <a:rPr lang="en-US" sz="3200" dirty="0" smtClean="0"/>
              <a:t>Request written confirmation.</a:t>
            </a:r>
          </a:p>
          <a:p>
            <a:r>
              <a:rPr lang="en-US" sz="3200" dirty="0" smtClean="0"/>
              <a:t>Give relevant details &amp; instructions.</a:t>
            </a:r>
          </a:p>
          <a:p>
            <a:r>
              <a:rPr lang="en-US" sz="3200" dirty="0" smtClean="0"/>
              <a:t>Finish with welcoming close</a:t>
            </a:r>
            <a:r>
              <a:rPr lang="en-US" sz="3200" dirty="0" smtClean="0"/>
              <a:t>.</a:t>
            </a:r>
            <a:endParaRPr lang="en-US" sz="3200" dirty="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8458199" cy="838200"/>
          </a:xfrm>
        </p:spPr>
        <p:txBody>
          <a:bodyPr/>
          <a:lstStyle/>
          <a:p>
            <a:pPr marL="0" indent="0" algn="l">
              <a:buNone/>
            </a:pPr>
            <a:r>
              <a:rPr lang="en-US" sz="3200" dirty="0">
                <a:solidFill>
                  <a:srgbClr val="C00000"/>
                </a:solidFill>
              </a:rPr>
              <a:t>OFFER OF EMPLOYMENT</a:t>
            </a:r>
          </a:p>
        </p:txBody>
      </p:sp>
      <p:pic>
        <p:nvPicPr>
          <p:cNvPr id="2" name="Picture 2" descr="C:\Users\UST\Desktop\OfferLt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572037"/>
            <a:ext cx="4750904" cy="6248400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7372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-101958" y="762000"/>
            <a:ext cx="4114800" cy="6096000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 smtClean="0"/>
              <a:t>States </a:t>
            </a:r>
            <a:r>
              <a:rPr lang="en-US" sz="3200" dirty="0"/>
              <a:t>the title of the post and to whom the person </a:t>
            </a:r>
            <a:r>
              <a:rPr lang="en-US" sz="3200" dirty="0" smtClean="0"/>
              <a:t>reports.</a:t>
            </a:r>
          </a:p>
          <a:p>
            <a:r>
              <a:rPr lang="en-US" sz="3200" dirty="0" smtClean="0"/>
              <a:t>Gives </a:t>
            </a:r>
            <a:r>
              <a:rPr lang="en-US" sz="3200" dirty="0"/>
              <a:t>full details of the duties and responsibilities involved</a:t>
            </a:r>
            <a:r>
              <a:rPr lang="en-US" sz="3200" dirty="0" smtClean="0"/>
              <a:t>.</a:t>
            </a:r>
          </a:p>
          <a:p>
            <a:r>
              <a:rPr lang="en-US" sz="3200" dirty="0"/>
              <a:t>Express all </a:t>
            </a:r>
            <a:r>
              <a:rPr lang="en-US" sz="3200" dirty="0" smtClean="0"/>
              <a:t>points consistently </a:t>
            </a:r>
            <a:r>
              <a:rPr lang="en-US" sz="3200" dirty="0"/>
              <a:t>(To </a:t>
            </a:r>
            <a:r>
              <a:rPr lang="en-US" sz="3200" dirty="0" smtClean="0"/>
              <a:t>...)</a:t>
            </a:r>
          </a:p>
          <a:p>
            <a:r>
              <a:rPr lang="en-US" sz="3200" dirty="0"/>
              <a:t>Finish with </a:t>
            </a:r>
            <a:r>
              <a:rPr lang="en-US" sz="3200" dirty="0" smtClean="0"/>
              <a:t>the </a:t>
            </a:r>
            <a:r>
              <a:rPr lang="en-US" sz="3200" dirty="0"/>
              <a:t>standard </a:t>
            </a:r>
            <a:r>
              <a:rPr lang="en-US" sz="3200" dirty="0" smtClean="0"/>
              <a:t>clause.</a:t>
            </a:r>
          </a:p>
          <a:p>
            <a:r>
              <a:rPr lang="en-US" sz="3200" dirty="0"/>
              <a:t>Don’t forget a </a:t>
            </a:r>
            <a:r>
              <a:rPr lang="en-US" sz="3200" dirty="0" smtClean="0"/>
              <a:t>reference &amp; </a:t>
            </a:r>
            <a:r>
              <a:rPr lang="en-US" sz="3200" dirty="0"/>
              <a:t>date</a:t>
            </a:r>
            <a:endParaRPr lang="en-US" sz="3200" dirty="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458199" cy="838200"/>
          </a:xfrm>
        </p:spPr>
        <p:txBody>
          <a:bodyPr/>
          <a:lstStyle/>
          <a:p>
            <a:pPr marL="0" indent="0" algn="l">
              <a:buNone/>
            </a:pPr>
            <a:r>
              <a:rPr lang="en-US" sz="3200" dirty="0">
                <a:solidFill>
                  <a:srgbClr val="C00000"/>
                </a:solidFill>
              </a:rPr>
              <a:t>JOB DESCRIPTION</a:t>
            </a:r>
          </a:p>
        </p:txBody>
      </p:sp>
      <p:pic>
        <p:nvPicPr>
          <p:cNvPr id="5122" name="Picture 2" descr="C:\Users\UST\Desktop\JobD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97665"/>
            <a:ext cx="5046513" cy="6705600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0905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-101958" y="838200"/>
            <a:ext cx="3911958" cy="6096000"/>
          </a:xfrm>
        </p:spPr>
        <p:txBody>
          <a:bodyPr>
            <a:normAutofit/>
          </a:bodyPr>
          <a:lstStyle/>
          <a:p>
            <a:r>
              <a:rPr lang="en-US" sz="2800" dirty="0"/>
              <a:t>W</a:t>
            </a:r>
            <a:r>
              <a:rPr lang="en-US" sz="2800" dirty="0" smtClean="0"/>
              <a:t>rite </a:t>
            </a:r>
            <a:r>
              <a:rPr lang="en-US" sz="2800" dirty="0"/>
              <a:t>a formal letter to the company accepting the post. </a:t>
            </a:r>
            <a:endParaRPr lang="en-US" sz="2800" dirty="0" smtClean="0"/>
          </a:p>
          <a:p>
            <a:r>
              <a:rPr lang="en-US" sz="2800" dirty="0" smtClean="0"/>
              <a:t>Keep </a:t>
            </a:r>
            <a:r>
              <a:rPr lang="en-US" sz="2800" dirty="0"/>
              <a:t>it simple</a:t>
            </a:r>
            <a:r>
              <a:rPr lang="en-US" sz="2800" dirty="0" smtClean="0"/>
              <a:t>.</a:t>
            </a:r>
          </a:p>
          <a:p>
            <a:r>
              <a:rPr lang="en-US" sz="2800" dirty="0"/>
              <a:t>Be consistent – </a:t>
            </a:r>
            <a:r>
              <a:rPr lang="en-US" sz="2800" dirty="0" smtClean="0"/>
              <a:t>display all your </a:t>
            </a:r>
            <a:r>
              <a:rPr lang="en-US" sz="2800" dirty="0"/>
              <a:t>letters in the same </a:t>
            </a:r>
            <a:r>
              <a:rPr lang="en-US" sz="2800" dirty="0" smtClean="0"/>
              <a:t>style.</a:t>
            </a:r>
          </a:p>
          <a:p>
            <a:r>
              <a:rPr lang="en-US" sz="2800" dirty="0"/>
              <a:t>Finish </a:t>
            </a:r>
            <a:r>
              <a:rPr lang="en-US" sz="2800" dirty="0" smtClean="0"/>
              <a:t>appropriately.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76200" y="0"/>
            <a:ext cx="8458199" cy="685800"/>
          </a:xfrm>
        </p:spPr>
        <p:txBody>
          <a:bodyPr/>
          <a:lstStyle/>
          <a:p>
            <a:pPr marL="0" indent="0" algn="l">
              <a:buNone/>
            </a:pPr>
            <a:r>
              <a:rPr lang="en-US" sz="2800" dirty="0">
                <a:solidFill>
                  <a:srgbClr val="C00000"/>
                </a:solidFill>
              </a:rPr>
              <a:t>LETTER OF ACCEPTANCE</a:t>
            </a:r>
          </a:p>
        </p:txBody>
      </p:sp>
      <p:pic>
        <p:nvPicPr>
          <p:cNvPr id="6147" name="Picture 3" descr="C:\Users\UST\Desktop\AccLt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432516"/>
            <a:ext cx="5376672" cy="6400800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4417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-101958" y="762000"/>
            <a:ext cx="3759558" cy="6096000"/>
          </a:xfrm>
        </p:spPr>
        <p:txBody>
          <a:bodyPr>
            <a:normAutofit/>
          </a:bodyPr>
          <a:lstStyle/>
          <a:p>
            <a:r>
              <a:rPr lang="en-US" sz="2800" dirty="0"/>
              <a:t>When you have been in employment and wish to leave for whatever reason, </a:t>
            </a:r>
            <a:r>
              <a:rPr lang="en-US" sz="2800" dirty="0" smtClean="0"/>
              <a:t>write </a:t>
            </a:r>
            <a:r>
              <a:rPr lang="en-US" sz="2800" dirty="0"/>
              <a:t>a formal letter resigning from your </a:t>
            </a:r>
            <a:r>
              <a:rPr lang="en-US" sz="2800" dirty="0" smtClean="0"/>
              <a:t>present post.</a:t>
            </a:r>
          </a:p>
          <a:p>
            <a:r>
              <a:rPr lang="en-US" sz="2800" dirty="0"/>
              <a:t>Express regret and state </a:t>
            </a:r>
            <a:r>
              <a:rPr lang="en-US" sz="2800" dirty="0" smtClean="0"/>
              <a:t>last day </a:t>
            </a:r>
            <a:r>
              <a:rPr lang="en-US" sz="2800" dirty="0"/>
              <a:t>of </a:t>
            </a:r>
            <a:r>
              <a:rPr lang="en-US" sz="2800" dirty="0" smtClean="0"/>
              <a:t>work.</a:t>
            </a:r>
          </a:p>
          <a:p>
            <a:r>
              <a:rPr lang="en-US" sz="2800" dirty="0"/>
              <a:t>Explain </a:t>
            </a:r>
            <a:r>
              <a:rPr lang="en-US" sz="2800" dirty="0" smtClean="0"/>
              <a:t>tactfully &amp; courteously.</a:t>
            </a:r>
          </a:p>
          <a:p>
            <a:r>
              <a:rPr lang="en-US" sz="2800" dirty="0"/>
              <a:t>Give thanks</a:t>
            </a:r>
            <a:endParaRPr lang="en-US" sz="2800" dirty="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8381999" cy="685800"/>
          </a:xfrm>
        </p:spPr>
        <p:txBody>
          <a:bodyPr/>
          <a:lstStyle/>
          <a:p>
            <a:pPr marL="0" indent="0" algn="l">
              <a:buNone/>
            </a:pPr>
            <a:r>
              <a:rPr lang="en-US" sz="2800" dirty="0" smtClean="0">
                <a:solidFill>
                  <a:srgbClr val="C00000"/>
                </a:solidFill>
              </a:rPr>
              <a:t>RESIGNATION</a:t>
            </a:r>
            <a:r>
              <a:rPr lang="en-US" sz="2800" b="0" dirty="0" smtClean="0"/>
              <a:t> </a:t>
            </a:r>
            <a:r>
              <a:rPr lang="en-US" sz="2800" dirty="0" smtClean="0">
                <a:solidFill>
                  <a:srgbClr val="C00000"/>
                </a:solidFill>
              </a:rPr>
              <a:t>LETTER</a:t>
            </a:r>
            <a:endParaRPr lang="en-US" sz="2800" dirty="0">
              <a:solidFill>
                <a:srgbClr val="C00000"/>
              </a:solidFill>
            </a:endParaRPr>
          </a:p>
        </p:txBody>
      </p:sp>
      <p:pic>
        <p:nvPicPr>
          <p:cNvPr id="2" name="Picture 2" descr="C:\Users\UST\Desktop\AcLt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507642"/>
            <a:ext cx="5519715" cy="6324600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17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-152400" y="685800"/>
            <a:ext cx="4343400" cy="6096000"/>
          </a:xfrm>
        </p:spPr>
        <p:txBody>
          <a:bodyPr>
            <a:noAutofit/>
          </a:bodyPr>
          <a:lstStyle/>
          <a:p>
            <a:r>
              <a:rPr lang="en-US" sz="2400" dirty="0" smtClean="0"/>
              <a:t>Use </a:t>
            </a:r>
            <a:r>
              <a:rPr lang="en-US" sz="2000" dirty="0" smtClean="0"/>
              <a:t>“</a:t>
            </a:r>
            <a:r>
              <a:rPr lang="en-US" sz="2000" b="1" i="1" dirty="0" smtClean="0"/>
              <a:t>To whom it may concern</a:t>
            </a:r>
            <a:r>
              <a:rPr lang="en-US" sz="2000" i="1" dirty="0" smtClean="0"/>
              <a:t>” </a:t>
            </a:r>
            <a:r>
              <a:rPr lang="en-US" sz="2400" dirty="0" smtClean="0"/>
              <a:t>in </a:t>
            </a:r>
            <a:r>
              <a:rPr lang="en-US" sz="2400" dirty="0"/>
              <a:t>place of </a:t>
            </a:r>
            <a:r>
              <a:rPr lang="en-US" sz="2400" dirty="0" smtClean="0"/>
              <a:t>receiver’s address.</a:t>
            </a:r>
          </a:p>
          <a:p>
            <a:r>
              <a:rPr lang="en-US" sz="2400" dirty="0"/>
              <a:t>State position and duration </a:t>
            </a:r>
            <a:r>
              <a:rPr lang="en-US" sz="2400" dirty="0" smtClean="0"/>
              <a:t>of employment.</a:t>
            </a:r>
          </a:p>
          <a:p>
            <a:r>
              <a:rPr lang="en-US" sz="2400" dirty="0"/>
              <a:t>Mention the duties </a:t>
            </a:r>
            <a:r>
              <a:rPr lang="en-US" sz="2400" dirty="0" smtClean="0"/>
              <a:t>performed.</a:t>
            </a:r>
          </a:p>
          <a:p>
            <a:r>
              <a:rPr lang="en-US" sz="2400" dirty="0"/>
              <a:t>State the employee’s </a:t>
            </a:r>
            <a:r>
              <a:rPr lang="en-US" sz="2400" dirty="0" smtClean="0"/>
              <a:t>working attitude &amp; how </a:t>
            </a:r>
            <a:r>
              <a:rPr lang="en-US" sz="2400" dirty="0"/>
              <a:t>work </a:t>
            </a:r>
            <a:r>
              <a:rPr lang="en-US" sz="2400" dirty="0" smtClean="0"/>
              <a:t>was carried out.</a:t>
            </a:r>
          </a:p>
          <a:p>
            <a:r>
              <a:rPr lang="en-US" sz="2400" dirty="0"/>
              <a:t>Mention personal </a:t>
            </a:r>
            <a:r>
              <a:rPr lang="en-US" sz="2400" dirty="0" smtClean="0"/>
              <a:t>qualities.</a:t>
            </a:r>
          </a:p>
          <a:p>
            <a:r>
              <a:rPr lang="en-US" sz="2400" dirty="0"/>
              <a:t>Give a recommendation</a:t>
            </a:r>
          </a:p>
          <a:p>
            <a:r>
              <a:rPr lang="en-US" sz="2400" dirty="0"/>
              <a:t>No </a:t>
            </a:r>
            <a:r>
              <a:rPr lang="en-US" sz="2400" b="1" dirty="0"/>
              <a:t>salutation</a:t>
            </a:r>
            <a:r>
              <a:rPr lang="en-US" sz="2400" dirty="0"/>
              <a:t> </a:t>
            </a:r>
            <a:r>
              <a:rPr lang="en-US" sz="2400" dirty="0" smtClean="0"/>
              <a:t>&amp; </a:t>
            </a:r>
            <a:r>
              <a:rPr lang="en-US" sz="2400" b="1" dirty="0" smtClean="0"/>
              <a:t>complimentary close </a:t>
            </a:r>
            <a:r>
              <a:rPr lang="en-US" sz="2400" dirty="0"/>
              <a:t>are </a:t>
            </a:r>
            <a:r>
              <a:rPr lang="en-US" sz="2400" dirty="0" smtClean="0"/>
              <a:t>necessary.</a:t>
            </a:r>
          </a:p>
          <a:p>
            <a:endParaRPr lang="en-US" sz="2800" dirty="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458199" cy="838200"/>
          </a:xfrm>
        </p:spPr>
        <p:txBody>
          <a:bodyPr/>
          <a:lstStyle/>
          <a:p>
            <a:pPr marL="0" indent="0" algn="l">
              <a:buNone/>
            </a:pPr>
            <a:r>
              <a:rPr lang="en-US" sz="3200" dirty="0" smtClean="0"/>
              <a:t>RECOMMENDATION LETTER</a:t>
            </a:r>
            <a:r>
              <a:rPr lang="en-US" sz="3200" b="0" dirty="0" smtClean="0"/>
              <a:t> </a:t>
            </a:r>
            <a:r>
              <a:rPr lang="en-US" sz="3200" b="0" dirty="0" smtClean="0">
                <a:solidFill>
                  <a:srgbClr val="C00000"/>
                </a:solidFill>
              </a:rPr>
              <a:t>(Testimonial)</a:t>
            </a:r>
            <a:endParaRPr lang="en-US" sz="3200" dirty="0">
              <a:solidFill>
                <a:srgbClr val="C00000"/>
              </a:solidFill>
            </a:endParaRPr>
          </a:p>
        </p:txBody>
      </p:sp>
      <p:pic>
        <p:nvPicPr>
          <p:cNvPr id="1026" name="Picture 2" descr="C:\Users\UST\Desktop\Tsmn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596721"/>
            <a:ext cx="5105400" cy="6248400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6017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-76200" y="914400"/>
            <a:ext cx="9372600" cy="5791200"/>
          </a:xfrm>
        </p:spPr>
        <p:txBody>
          <a:bodyPr>
            <a:no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Thanks, </a:t>
            </a:r>
          </a:p>
          <a:p>
            <a:pPr marL="45720" indent="0">
              <a:buNone/>
            </a:pPr>
            <a:r>
              <a:rPr lang="en-US" sz="4000" dirty="0" smtClean="0">
                <a:solidFill>
                  <a:srgbClr val="C00000"/>
                </a:solidFill>
              </a:rPr>
              <a:t>GOOD</a:t>
            </a:r>
          </a:p>
          <a:p>
            <a:pPr marL="45720" indent="0">
              <a:buNone/>
            </a:pPr>
            <a:r>
              <a:rPr lang="en-US" sz="4000" dirty="0" smtClean="0">
                <a:solidFill>
                  <a:srgbClr val="C00000"/>
                </a:solidFill>
              </a:rPr>
              <a:t>listeners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marL="0" indent="0" algn="l">
              <a:buNone/>
            </a:pP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4" name="Isosceles Triangle 3"/>
          <p:cNvSpPr/>
          <p:nvPr/>
        </p:nvSpPr>
        <p:spPr>
          <a:xfrm>
            <a:off x="6629400" y="1295400"/>
            <a:ext cx="2488096" cy="2971800"/>
          </a:xfrm>
          <a:prstGeom prst="triangl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The END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705883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3872</TotalTime>
  <Words>608</Words>
  <Application>Microsoft Office PowerPoint</Application>
  <PresentationFormat>On-screen Show (4:3)</PresentationFormat>
  <Paragraphs>106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 Black</vt:lpstr>
      <vt:lpstr>Georgia</vt:lpstr>
      <vt:lpstr>Trebuchet MS</vt:lpstr>
      <vt:lpstr>Wingdings</vt:lpstr>
      <vt:lpstr>Slipstream</vt:lpstr>
      <vt:lpstr>Business Letters</vt:lpstr>
      <vt:lpstr>Learning Objectives</vt:lpstr>
      <vt:lpstr>THE RECRUITMENT PROCESS</vt:lpstr>
      <vt:lpstr>APPLICATION LETTER</vt:lpstr>
      <vt:lpstr>CURRICULUM VITAE</vt:lpstr>
      <vt:lpstr>Class Activity</vt:lpstr>
      <vt:lpstr>INVITATION TO INTERVIEW</vt:lpstr>
      <vt:lpstr>REFERENCES</vt:lpstr>
      <vt:lpstr>REFERENCES</vt:lpstr>
      <vt:lpstr>OFFER OF EMPLOYMENT</vt:lpstr>
      <vt:lpstr>JOB DESCRIPTION</vt:lpstr>
      <vt:lpstr>LETTER OF ACCEPTANCE</vt:lpstr>
      <vt:lpstr>RESIGNATION LETTER</vt:lpstr>
      <vt:lpstr>RECOMMENDATION LETTER (Testimonial)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UST</dc:creator>
  <cp:lastModifiedBy>Mahdi Mohamed</cp:lastModifiedBy>
  <cp:revision>169</cp:revision>
  <dcterms:created xsi:type="dcterms:W3CDTF">2018-03-07T18:35:29Z</dcterms:created>
  <dcterms:modified xsi:type="dcterms:W3CDTF">2018-04-10T06:32:27Z</dcterms:modified>
</cp:coreProperties>
</file>